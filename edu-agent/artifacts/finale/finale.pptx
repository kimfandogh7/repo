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E01806"/>
            </a:solidFill>
          </c:spPr>
          <c:cat>
            <c:strRef>
              <c:f>Sheet1!$A$2:$A$5</c:f>
              <c:strCache>
                <c:ptCount val="4"/>
                <c:pt idx="0">
                  <c:v>Ferrari</c:v>
                </c:pt>
                <c:pt idx="1">
                  <c:v>BAR Honda</c:v>
                </c:pt>
                <c:pt idx="2">
                  <c:v>Renault</c:v>
                </c:pt>
                <c:pt idx="3">
                  <c:v>Williams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3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A0E0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errariv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errariv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66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chemeClr val="accent1"/>
            </a:gs>
            <a:gs pos="100000">
              <a:schemeClr val="accent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0" y="0"/>
            <a:ext cx="10287000" cy="9525000"/>
            <a:chOff x="0" y="0"/>
            <a:chExt cx="10287000" cy="9525000"/>
          </a:xfrm>
        </p:grpSpPr>
        <p:sp>
          <p:nvSpPr>
            <p:cNvPr id="3" name="Rectangle 3"/>
            <p:cNvSpPr/>
            <p:nvPr/>
          </p:nvSpPr>
          <p:spPr>
            <a:xfrm>
              <a:off x="0" y="4762500"/>
              <a:ext cx="10287000" cy="4762500"/>
            </a:xfrm>
            <a:prstGeom prst="rect">
              <a:avLst/>
            </a:prstGeom>
            <a:gradFill>
              <a:gsLst>
                <a:gs pos="0">
                  <a:schemeClr val="accent6">
                    <a:alpha val="0"/>
                  </a:schemeClr>
                </a:gs>
                <a:gs pos="70000">
                  <a:schemeClr val="accent6"/>
                </a:gs>
              </a:gsLst>
              <a:lin ang="5400000" scaled="1"/>
            </a:gradFill>
            <a:ln>
              <a:noFill/>
            </a:ln>
          </p:spPr>
        </p:sp>
      </p:grpSp>
      <p:pic>
        <p:nvPicPr>
          <p:cNvPr id="14" name="!!car" descr="F1 car, turntable angle 0 d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81250"/>
            <a:ext cx="9144000" cy="3333750"/>
          </a:xfrm>
          <a:prstGeom prst="rect">
            <a:avLst/>
          </a:prstGeom>
        </p:spPr>
      </p:pic>
      <p:grpSp>
        <p:nvGrpSpPr>
          <p:cNvPr id="11" name="v1-type"/>
          <p:cNvGrpSpPr/>
          <p:nvPr/>
        </p:nvGrpSpPr>
        <p:grpSpPr>
          <a:xfrm>
            <a:off x="742950" y="10769600"/>
            <a:ext cx="7150029" cy="5831840"/>
            <a:chOff x="742950" y="10769600"/>
            <a:chExt cx="7150029" cy="583184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10769600"/>
              <a:ext cx="30288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SEASON 2004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11379200"/>
              <a:ext cx="7150029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FERRARI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12903200"/>
              <a:ext cx="4575627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F2004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4859000"/>
              <a:ext cx="247650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5443200"/>
              <a:ext cx="4173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most dominant car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16014700"/>
              <a:ext cx="46243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Formula 1 has ever seen.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2-rule"/>
          <p:cNvSpPr/>
          <p:nvPr/>
        </p:nvSpPr>
        <p:spPr>
          <a:xfrm>
            <a:off x="762000" y="2286000"/>
            <a:ext cx="8763000" cy="952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6" name="v2-type"/>
          <p:cNvGrpSpPr/>
          <p:nvPr/>
        </p:nvGrpSpPr>
        <p:grpSpPr>
          <a:xfrm>
            <a:off x="742950" y="3530600"/>
            <a:ext cx="6634608" cy="3028950"/>
            <a:chOff x="742950" y="3530600"/>
            <a:chExt cx="6634608" cy="302895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530600"/>
              <a:ext cx="28715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rgbClr val="B81400"/>
                  </a:solidFill>
                  <a:latin typeface="+mn-lt"/>
                  <a:ea typeface="+mn-ea"/>
                  <a:cs typeface="+mn-cs"/>
                </a:rPr>
                <a:t>THE SEASON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2950" y="4140200"/>
              <a:ext cx="544649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Fifteen wins.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5283200"/>
              <a:ext cx="663460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Eighteen races.</a:t>
              </a:r>
            </a:p>
          </p:txBody>
        </p:sp>
      </p:grpSp>
      <p:graphicFrame>
        <p:nvGraphicFramePr>
          <p:cNvPr id="12" name="!!stage"/>
          <p:cNvGraphicFramePr>
            <a:graphicFrameLocks noGrp="1"/>
          </p:cNvGraphicFramePr>
          <p:nvPr/>
        </p:nvGraphicFramePr>
        <p:xfrm>
          <a:off x="762000" y="7381875"/>
          <a:ext cx="8382000" cy="666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 xmlns:r="http://schemas.openxmlformats.org/officeDocument/2006/relationships">
        <p:nvPicPr>
          <p:cNvPr id="21" name="!!car" descr="F1 car, turntable angle 120 d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15478125"/>
            <a:ext cx="6858000" cy="2500312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49046" y="14160500"/>
            <a:ext cx="485374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dirty="0">
                <a:solidFill>
                  <a:srgbClr val="1A0E0B"/>
                </a:solidFill>
                <a:latin typeface="+mn-lt"/>
                <a:ea typeface="+mn-ea"/>
                <a:cs typeface="+mn-cs"/>
              </a:rPr>
              <a:t>15 of 18 — no other constructor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046" y="14636750"/>
            <a:ext cx="443391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dirty="0">
                <a:solidFill>
                  <a:srgbClr val="1A0E0B"/>
                </a:solidFill>
                <a:latin typeface="+mn-lt"/>
                <a:ea typeface="+mn-ea"/>
                <a:cs typeface="+mn-cs"/>
              </a:rPr>
              <a:t>won more than a single race.</a:t>
            </a:r>
          </a:p>
        </p:txBody>
      </p: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0" y="0"/>
            <a:ext cx="10287000" cy="10287000"/>
            <a:chOff x="0" y="0"/>
            <a:chExt cx="10287000" cy="10287000"/>
          </a:xfrm>
        </p:grpSpPr>
        <p:sp>
          <p:nvSpPr>
            <p:cNvPr id="3" name="Rectangle 3"/>
            <p:cNvSpPr/>
            <p:nvPr/>
          </p:nvSpPr>
          <p:spPr>
            <a:xfrm>
              <a:off x="0" y="5524500"/>
              <a:ext cx="10287000" cy="4762500"/>
            </a:xfrm>
            <a:prstGeom prst="rect">
              <a:avLst/>
            </a:prstGeom>
            <a:gradFill>
              <a:gsLst>
                <a:gs pos="0">
                  <a:schemeClr val="accent6">
                    <a:alpha val="0"/>
                  </a:schemeClr>
                </a:gs>
                <a:gs pos="70000">
                  <a:schemeClr val="accent6"/>
                </a:gs>
              </a:gsLst>
              <a:lin ang="5400000" scaled="1"/>
            </a:gradFill>
            <a:ln>
              <a:noFill/>
            </a:ln>
          </p:spPr>
        </p:sp>
      </p:grpSp>
      <p:pic>
        <p:nvPicPr>
          <p:cNvPr id="13" name="!!car" descr="F1 car, turntable angle 200 d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714500"/>
            <a:ext cx="7620000" cy="2778125"/>
          </a:xfrm>
          <a:prstGeom prst="rect">
            <a:avLst/>
          </a:prstGeom>
        </p:spPr>
      </p:pic>
      <p:grpSp>
        <p:nvGrpSpPr>
          <p:cNvPr id="11" name="v3-type"/>
          <p:cNvGrpSpPr/>
          <p:nvPr/>
        </p:nvGrpSpPr>
        <p:grpSpPr>
          <a:xfrm>
            <a:off x="742950" y="11531600"/>
            <a:ext cx="5805120" cy="4668266"/>
            <a:chOff x="742950" y="11531600"/>
            <a:chExt cx="5805120" cy="4668266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11531600"/>
              <a:ext cx="30987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MACHINE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12249150"/>
              <a:ext cx="4309039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to be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13201650"/>
              <a:ext cx="5585141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unfollowable.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4573250"/>
              <a:ext cx="247650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284" y="15100300"/>
              <a:ext cx="57997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V10 that screamed to 19,000 rpm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284" y="15671800"/>
              <a:ext cx="45738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 an era of no substitutions.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v4-head"/>
          <p:cNvGrpSpPr/>
          <p:nvPr/>
        </p:nvGrpSpPr>
        <p:grpSpPr>
          <a:xfrm>
            <a:off x="742950" y="2578100"/>
            <a:ext cx="5404586" cy="1847850"/>
            <a:chOff x="742950" y="2578100"/>
            <a:chExt cx="5404586" cy="1847850"/>
          </a:xfrm>
        </p:grpSpPr>
        <p:sp>
          <p:nvSpPr>
            <p:cNvPr id="2" name="TextBox 2"/>
            <p:cNvSpPr txBox="1"/>
            <p:nvPr/>
          </p:nvSpPr>
          <p:spPr>
            <a:xfrm>
              <a:off x="750570" y="2578100"/>
              <a:ext cx="40128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rgbClr val="B81400"/>
                  </a:solidFill>
                  <a:latin typeface="+mn-lt"/>
                  <a:ea typeface="+mn-ea"/>
                  <a:cs typeface="+mn-cs"/>
                </a:rPr>
                <a:t>BY THE NUMBERS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2950" y="3263900"/>
              <a:ext cx="5404586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Three figures.</a:t>
              </a:r>
            </a:p>
          </p:txBody>
        </p:sp>
      </p:grpSp>
      <p:grpSp>
        <p:nvGrpSpPr>
          <p:cNvPr id="20" name="!!stage"/>
          <p:cNvGrpSpPr/>
          <p:nvPr/>
        </p:nvGrpSpPr>
        <p:grpSpPr>
          <a:xfrm>
            <a:off x="762000" y="5334000"/>
            <a:ext cx="8763000" cy="9906000"/>
            <a:chOff x="762000" y="5334000"/>
            <a:chExt cx="8763000" cy="9906000"/>
          </a:xfrm>
        </p:grpSpPr>
        <p:sp>
          <p:nvSpPr>
            <p:cNvPr id="5" name="Rectangle 5"/>
            <p:cNvSpPr/>
            <p:nvPr/>
          </p:nvSpPr>
          <p:spPr>
            <a:xfrm>
              <a:off x="762000" y="5334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5334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9200" y="5568950"/>
              <a:ext cx="256515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865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3010" y="7251700"/>
              <a:ext cx="23195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horsepower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6820" y="7816850"/>
              <a:ext cx="31373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from 3.0 litres, no turbo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8763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8763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19200" y="8997950"/>
              <a:ext cx="256515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600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3010" y="10680700"/>
              <a:ext cx="19383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kilograms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6820" y="11245850"/>
              <a:ext cx="34913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fully fuelled, driver aboard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2192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2192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19200" y="12426950"/>
              <a:ext cx="214352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3010" y="14109700"/>
              <a:ext cx="40015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tonnes of downforce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26820" y="14674850"/>
              <a:ext cx="34238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more than the car weighs</a:t>
              </a:r>
            </a:p>
          </p:txBody>
        </p:sp>
      </p:grpSp>
      <p:pic xmlns:r="http://schemas.openxmlformats.org/officeDocument/2006/relationships">
        <p:nvPicPr>
          <p:cNvPr id="21" name="!!car" descr="F1 car, turntable angle 280 d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478125"/>
            <a:ext cx="6858000" cy="2500312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chemeClr val="lt1"/>
            </a:gs>
            <a:gs pos="100000">
              <a:srgbClr val="5A09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!!stage"/>
          <p:cNvGrpSpPr/>
          <p:nvPr/>
        </p:nvGrpSpPr>
        <p:grpSpPr>
          <a:xfrm>
            <a:off x="1524000" y="5143500"/>
            <a:ext cx="7239000" cy="7239000"/>
            <a:chOff x="1524000" y="5143500"/>
            <a:chExt cx="7239000" cy="7239000"/>
          </a:xfrm>
        </p:grpSpPr>
        <p:sp>
          <p:nvSpPr>
            <p:cNvPr id="2" name="Ellipse 2"/>
            <p:cNvSpPr/>
            <p:nvPr/>
          </p:nvSpPr>
          <p:spPr>
            <a:xfrm>
              <a:off x="1524000" y="5143500"/>
              <a:ext cx="7239000" cy="7239000"/>
            </a:xfrm>
            <a:prstGeom prst="ellipse">
              <a:avLst/>
            </a:prstGeom>
            <a:noFill/>
            <a:ln w="38100">
              <a:solidFill>
                <a:srgbClr val="FF6A00">
                  <a:alpha val="55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2476500" y="6096000"/>
              <a:ext cx="5334000" cy="5334000"/>
            </a:xfrm>
            <a:prstGeom prst="ellipse">
              <a:avLst/>
            </a:prstGeom>
            <a:noFill/>
            <a:ln w="38100">
              <a:solidFill>
                <a:srgbClr val="FF6A00">
                  <a:alpha val="7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3429000" y="7048500"/>
              <a:ext cx="3429000" cy="3429000"/>
            </a:xfrm>
            <a:prstGeom prst="ellipse">
              <a:avLst/>
            </a:prstGeom>
            <a:noFill/>
            <a:ln w="47625">
              <a:solidFill>
                <a:schemeClr val="accent2">
                  <a:alpha val="90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381500" y="8001000"/>
              <a:ext cx="1524000" cy="1524000"/>
            </a:xfrm>
            <a:prstGeom prst="ellipse">
              <a:avLst/>
            </a:prstGeom>
            <a:solidFill>
              <a:schemeClr val="accent2">
                <a:alpha val="95000"/>
              </a:schemeClr>
            </a:solidFill>
            <a:ln>
              <a:noFill/>
            </a:ln>
          </p:spPr>
        </p:sp>
      </p:grpSp>
      <p:pic xmlns:r="http://schemas.openxmlformats.org/officeDocument/2006/relationships">
        <p:nvPicPr>
          <p:cNvPr id="13" name="!!car" descr="F1 car, turntable angle 40 d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439025"/>
            <a:ext cx="7239000" cy="2639218"/>
          </a:xfrm>
          <a:prstGeom prst="rect">
            <a:avLst/>
          </a:prstGeom>
        </p:spPr>
      </p:pic>
      <p:grpSp>
        <p:nvGrpSpPr>
          <p:cNvPr id="10" name="v5-type"/>
          <p:cNvGrpSpPr/>
          <p:nvPr/>
        </p:nvGrpSpPr>
        <p:grpSpPr>
          <a:xfrm>
            <a:off x="742950" y="14198600"/>
            <a:ext cx="7291231" cy="2971800"/>
            <a:chOff x="742950" y="14198600"/>
            <a:chExt cx="7291231" cy="2971800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14198600"/>
              <a:ext cx="2853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LEGACY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2950" y="14732000"/>
              <a:ext cx="502336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once.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5779750"/>
              <a:ext cx="729123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Never matched.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errariv5">
  <a:themeElements>
    <a:clrScheme name="ferrariv5">
      <a:dk1>
        <a:srgbClr val="FFFFFF"/>
      </a:dk1>
      <a:lt1>
        <a:srgbClr val="C41605"/>
      </a:lt1>
      <a:dk2>
        <a:srgbClr val="FFFFFF"/>
      </a:dk2>
      <a:lt2>
        <a:srgbClr val="C41605"/>
      </a:lt2>
      <a:accent1>
        <a:srgbClr val="E01806"/>
      </a:accent1>
      <a:accent2>
        <a:srgbClr val="FFD400"/>
      </a:accent2>
      <a:accent3>
        <a:srgbClr val="FFD400"/>
      </a:accent3>
      <a:accent4>
        <a:srgbClr val="E01806"/>
      </a:accent4>
      <a:accent5>
        <a:srgbClr val="FFD9CE"/>
      </a:accent5>
      <a:accent6>
        <a:srgbClr val="8C0F00"/>
      </a:accent6>
      <a:hlink>
        <a:srgbClr val="FFD400"/>
      </a:hlink>
      <a:folHlink>
        <a:srgbClr val="FFD400"/>
      </a:folHlink>
    </a:clrScheme>
    <a:fontScheme name="ferrariv5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rrariv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2026-10-11T21:19:33Z</dcterms:created>
  <dcterms:modified xsi:type="dcterms:W3CDTF">2026-10-11T21:19:33Z</dcterms:modified>
  <cp:category/>
  <cp:contentStatus/>
</cp:coreProperties>
</file>