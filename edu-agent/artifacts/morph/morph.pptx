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orp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orp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8151e67f75f34d8.jp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gradFill>
          <a:gsLst>
            <a:gs pos="0">
              <a:schemeClr val="lt1"/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!!accent"/>
          <p:cNvGrpSpPr/>
          <p:nvPr/>
        </p:nvGrpSpPr>
        <p:grpSpPr>
          <a:xfrm>
            <a:off x="5524500" y="4476750"/>
            <a:ext cx="1143000" cy="76200"/>
            <a:chOff x="5524500" y="4476750"/>
            <a:chExt cx="1143000" cy="76200"/>
          </a:xfrm>
        </p:grpSpPr>
        <p:sp>
          <p:nvSpPr>
            <p:cNvPr id="2" name="Rectangle 2"/>
            <p:cNvSpPr/>
            <p:nvPr/>
          </p:nvSpPr>
          <p:spPr>
            <a:xfrm>
              <a:off x="5524500" y="447675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" name="!!title"/>
          <p:cNvGrpSpPr/>
          <p:nvPr/>
        </p:nvGrpSpPr>
        <p:grpSpPr>
          <a:xfrm>
            <a:off x="895350" y="2933700"/>
            <a:ext cx="6153808" cy="1247775"/>
            <a:chOff x="895350" y="2933700"/>
            <a:chExt cx="6153808" cy="1247775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2933700"/>
              <a:ext cx="615380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DOWNFORCE</a:t>
              </a:r>
            </a:p>
          </p:txBody>
        </p:sp>
      </p:grpSp>
      <p:grpSp>
        <p:nvGrpSpPr>
          <p:cNvPr id="7" name="s1-sub"/>
          <p:cNvGrpSpPr/>
          <p:nvPr/>
        </p:nvGrpSpPr>
        <p:grpSpPr>
          <a:xfrm>
            <a:off x="5516499" y="5010150"/>
            <a:ext cx="3214514" cy="308991"/>
            <a:chOff x="5516499" y="5010150"/>
            <a:chExt cx="3214514" cy="308991"/>
          </a:xfrm>
        </p:grpSpPr>
        <p:sp>
          <p:nvSpPr>
            <p:cNvPr id="6" name="TextBox 6"/>
            <p:cNvSpPr txBox="1"/>
            <p:nvPr/>
          </p:nvSpPr>
          <p:spPr>
            <a:xfrm>
              <a:off x="5516499" y="5010150"/>
              <a:ext cx="321451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6E829C"/>
                  </a:solidFill>
                  <a:latin typeface="+mn-lt"/>
                  <a:ea typeface="+mn-ea"/>
                  <a:cs typeface="+mn-cs"/>
                </a:rPr>
                <a:t>The invisible hand that wins races</a:t>
              </a:r>
            </a:p>
          </p:txBody>
        </p:sp>
      </p:grp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chemeClr val="lt1"/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!!accent"/>
          <p:cNvGrpSpPr/>
          <p:nvPr/>
        </p:nvGrpSpPr>
        <p:grpSpPr>
          <a:xfrm>
            <a:off x="914400" y="2381250"/>
            <a:ext cx="4000500" cy="76200"/>
            <a:chOff x="914400" y="2381250"/>
            <a:chExt cx="4000500" cy="76200"/>
          </a:xfrm>
        </p:grpSpPr>
        <p:sp>
          <p:nvSpPr>
            <p:cNvPr id="2" name="Rectangle 2"/>
            <p:cNvSpPr/>
            <p:nvPr/>
          </p:nvSpPr>
          <p:spPr>
            <a:xfrm>
              <a:off x="914400" y="2381250"/>
              <a:ext cx="40005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" name="!!title"/>
          <p:cNvGrpSpPr/>
          <p:nvPr/>
        </p:nvGrpSpPr>
        <p:grpSpPr>
          <a:xfrm>
            <a:off x="895350" y="1447800"/>
            <a:ext cx="4162648" cy="847725"/>
            <a:chOff x="895350" y="1447800"/>
            <a:chExt cx="4162648" cy="847725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1447800"/>
              <a:ext cx="416264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DOWNFORCE</a:t>
              </a:r>
            </a:p>
          </p:txBody>
        </p:sp>
      </p:grpSp>
      <p:grpSp>
        <p:nvGrpSpPr>
          <p:cNvPr id="11" name="s2-body"/>
          <p:cNvGrpSpPr/>
          <p:nvPr/>
        </p:nvGrpSpPr>
        <p:grpSpPr>
          <a:xfrm>
            <a:off x="905637" y="3403600"/>
            <a:ext cx="4245089" cy="1783652"/>
            <a:chOff x="905637" y="3403600"/>
            <a:chExt cx="4245089" cy="1783652"/>
          </a:xfrm>
        </p:grpSpPr>
        <p:sp>
          <p:nvSpPr>
            <p:cNvPr id="6" name="TextBox 6"/>
            <p:cNvSpPr txBox="1"/>
            <p:nvPr/>
          </p:nvSpPr>
          <p:spPr>
            <a:xfrm>
              <a:off x="905637" y="3403600"/>
              <a:ext cx="424508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 F1 car at 250 km/h generates enough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5637" y="3765550"/>
              <a:ext cx="340278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downforce to drive on the ceiling.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923" y="4324350"/>
              <a:ext cx="20877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NOT A METAPHOR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161" y="4641850"/>
              <a:ext cx="3824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5A6B85"/>
                  </a:solidFill>
                  <a:latin typeface="+mn-lt"/>
                  <a:ea typeface="+mn-ea"/>
                  <a:cs typeface="+mn-cs"/>
                </a:rPr>
                <a:t>The wing pushes the car into the road harder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161" y="4908550"/>
              <a:ext cx="21609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5A6B85"/>
                  </a:solidFill>
                  <a:latin typeface="+mn-lt"/>
                  <a:ea typeface="+mn-ea"/>
                  <a:cs typeface="+mn-cs"/>
                </a:rPr>
                <a:t>than gravity pulls it down.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chemeClr val="lt1"/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!!accent"/>
          <p:cNvGrpSpPr/>
          <p:nvPr/>
        </p:nvGrpSpPr>
        <p:grpSpPr>
          <a:xfrm>
            <a:off x="5905500" y="1619250"/>
            <a:ext cx="76200" cy="3619500"/>
            <a:chOff x="5905500" y="1619250"/>
            <a:chExt cx="76200" cy="3619500"/>
          </a:xfrm>
        </p:grpSpPr>
        <p:sp>
          <p:nvSpPr>
            <p:cNvPr id="2" name="Rectangle 2"/>
            <p:cNvSpPr/>
            <p:nvPr/>
          </p:nvSpPr>
          <p:spPr>
            <a:xfrm>
              <a:off x="5905500" y="1619250"/>
              <a:ext cx="76200" cy="3619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" name="!!title"/>
          <p:cNvGrpSpPr/>
          <p:nvPr/>
        </p:nvGrpSpPr>
        <p:grpSpPr>
          <a:xfrm>
            <a:off x="896874" y="1435100"/>
            <a:ext cx="3306245" cy="674751"/>
            <a:chOff x="896874" y="1435100"/>
            <a:chExt cx="3306245" cy="674751"/>
          </a:xfrm>
        </p:grpSpPr>
        <p:sp>
          <p:nvSpPr>
            <p:cNvPr id="4" name="TextBox 4"/>
            <p:cNvSpPr txBox="1"/>
            <p:nvPr/>
          </p:nvSpPr>
          <p:spPr>
            <a:xfrm>
              <a:off x="896874" y="1435100"/>
              <a:ext cx="330624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DOWNFORCE</a:t>
              </a:r>
            </a:p>
          </p:txBody>
        </p:sp>
      </p:grpSp>
      <p:grpSp>
        <p:nvGrpSpPr>
          <p:cNvPr id="10" name="s3-left"/>
          <p:cNvGrpSpPr/>
          <p:nvPr/>
        </p:nvGrpSpPr>
        <p:grpSpPr>
          <a:xfrm>
            <a:off x="906399" y="2584450"/>
            <a:ext cx="3238766" cy="1420241"/>
            <a:chOff x="906399" y="2584450"/>
            <a:chExt cx="3238766" cy="1420241"/>
          </a:xfrm>
        </p:grpSpPr>
        <p:sp>
          <p:nvSpPr>
            <p:cNvPr id="6" name="TextBox 6"/>
            <p:cNvSpPr txBox="1"/>
            <p:nvPr/>
          </p:nvSpPr>
          <p:spPr>
            <a:xfrm>
              <a:off x="907161" y="2584450"/>
              <a:ext cx="14262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TRADE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399" y="3009900"/>
              <a:ext cx="323876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More wing angle means more grip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6399" y="3352800"/>
              <a:ext cx="301902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 the corners — and more drag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399" y="3695700"/>
              <a:ext cx="152944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 the straights.</a:t>
              </a:r>
            </a:p>
          </p:txBody>
        </p:sp>
      </p:grpSp>
      <p:grpSp>
        <p:nvGrpSpPr>
          <p:cNvPr id="15" name="s3-right"/>
          <p:cNvGrpSpPr/>
          <p:nvPr/>
        </p:nvGrpSpPr>
        <p:grpSpPr>
          <a:xfrm>
            <a:off x="6659499" y="2584450"/>
            <a:ext cx="3131763" cy="1420241"/>
            <a:chOff x="6659499" y="2584450"/>
            <a:chExt cx="3131763" cy="1420241"/>
          </a:xfrm>
        </p:grpSpPr>
        <p:sp>
          <p:nvSpPr>
            <p:cNvPr id="11" name="TextBox 11"/>
            <p:cNvSpPr txBox="1"/>
            <p:nvPr/>
          </p:nvSpPr>
          <p:spPr>
            <a:xfrm>
              <a:off x="6660261" y="2584450"/>
              <a:ext cx="16602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ANSWER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499" y="3009900"/>
              <a:ext cx="313176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Every track gets its own balance.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59499" y="3352800"/>
              <a:ext cx="23761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Monaco: maximum wing.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9499" y="3695700"/>
              <a:ext cx="199794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Monza: almost none.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gradFill>
          <a:gsLst>
            <a:gs pos="0">
              <a:schemeClr val="lt1"/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4-photo"/>
          <p:cNvGrpSpPr/>
          <p:nvPr/>
        </p:nvGrpSpPr>
        <p:grpSpPr>
          <a:xfrm>
            <a:off x="914400" y="1428750"/>
            <a:ext cx="3467100" cy="3467100"/>
            <a:chOff x="914400" y="1428750"/>
            <a:chExt cx="3467100" cy="34671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22728" t="0" r="22727" b="0"/>
            <a:stretch>
              <a:fillRect/>
            </a:stretch>
          </p:blipFill>
          <p:spPr>
            <a:xfrm>
              <a:off x="914400" y="1428750"/>
              <a:ext cx="3467100" cy="3467100"/>
            </a:xfrm>
            <a:custGeom>
              <a:avLst/>
              <a:gdLst/>
              <a:ahLst/>
              <a:cxnLst/>
              <a:rect l="l" t="t" r="r" b="b"/>
              <a:pathLst>
                <a:path w="3467100" h="3467100">
                  <a:moveTo>
                    <a:pt x="0" y="1733550"/>
                  </a:moveTo>
                  <a:cubicBezTo>
                    <a:pt x="0" y="2690963"/>
                    <a:pt x="776137" y="3467100"/>
                    <a:pt x="1733550" y="3467100"/>
                  </a:cubicBezTo>
                  <a:cubicBezTo>
                    <a:pt x="2690963" y="3467100"/>
                    <a:pt x="3467100" y="2690963"/>
                    <a:pt x="3467100" y="1733550"/>
                  </a:cubicBezTo>
                  <a:cubicBezTo>
                    <a:pt x="3467100" y="776137"/>
                    <a:pt x="2690963" y="0"/>
                    <a:pt x="1733550" y="0"/>
                  </a:cubicBezTo>
                  <a:cubicBezTo>
                    <a:pt x="776137" y="0"/>
                    <a:pt x="0" y="776137"/>
                    <a:pt x="0" y="1733550"/>
                  </a:cubicBezTo>
                  <a:close/>
                </a:path>
              </a:pathLst>
            </a:custGeom>
          </p:spPr>
        </p:pic>
      </p:grpSp>
      <p:grpSp>
        <p:nvGrpSpPr>
          <p:cNvPr id="5" name="!!accent"/>
          <p:cNvGrpSpPr/>
          <p:nvPr/>
        </p:nvGrpSpPr>
        <p:grpSpPr>
          <a:xfrm>
            <a:off x="6286500" y="1428750"/>
            <a:ext cx="3810000" cy="3810000"/>
            <a:chOff x="6286500" y="1428750"/>
            <a:chExt cx="3810000" cy="3810000"/>
          </a:xfrm>
        </p:grpSpPr>
        <p:sp>
          <p:nvSpPr>
            <p:cNvPr id="4" name="Ellipse 4"/>
            <p:cNvSpPr/>
            <p:nvPr/>
          </p:nvSpPr>
          <p:spPr>
            <a:xfrm>
              <a:off x="6286500" y="1428750"/>
              <a:ext cx="3810000" cy="38100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</p:sp>
      </p:grpSp>
      <p:grpSp>
        <p:nvGrpSpPr>
          <p:cNvPr id="7" name="!!title"/>
          <p:cNvGrpSpPr/>
          <p:nvPr/>
        </p:nvGrpSpPr>
        <p:grpSpPr>
          <a:xfrm>
            <a:off x="896874" y="5816600"/>
            <a:ext cx="2897468" cy="674751"/>
            <a:chOff x="896874" y="5816600"/>
            <a:chExt cx="2897468" cy="674751"/>
          </a:xfrm>
        </p:grpSpPr>
        <p:sp>
          <p:nvSpPr>
            <p:cNvPr id="6" name="TextBox 6"/>
            <p:cNvSpPr txBox="1"/>
            <p:nvPr/>
          </p:nvSpPr>
          <p:spPr>
            <a:xfrm>
              <a:off x="896874" y="5816600"/>
              <a:ext cx="289746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SIMULATED</a:t>
              </a:r>
            </a:p>
          </p:txBody>
        </p:sp>
      </p:grpSp>
      <p:grpSp>
        <p:nvGrpSpPr>
          <p:cNvPr id="11" name="s4-body"/>
          <p:cNvGrpSpPr/>
          <p:nvPr/>
        </p:nvGrpSpPr>
        <p:grpSpPr>
          <a:xfrm>
            <a:off x="6660261" y="5651500"/>
            <a:ext cx="2591681" cy="663575"/>
            <a:chOff x="6660261" y="5651500"/>
            <a:chExt cx="2591681" cy="663575"/>
          </a:xfrm>
        </p:grpSpPr>
        <p:sp>
          <p:nvSpPr>
            <p:cNvPr id="8" name="TextBox 8"/>
            <p:cNvSpPr txBox="1"/>
            <p:nvPr/>
          </p:nvSpPr>
          <p:spPr>
            <a:xfrm>
              <a:off x="6660261" y="5651500"/>
              <a:ext cx="2591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Thousands of runs until the air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0261" y="5918200"/>
              <a:ext cx="2480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behaves exactly as intended.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667500" y="6286500"/>
              <a:ext cx="104775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</p:spTree>
  </p:cSld>
  <p:clrMapOvr>
    <a:masterClrMapping/>
  </p:clrMapOvr>
  <mc:AlternateContent>
    <mc:Choice Requires="p159">
      <p:transition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chemeClr val="lt1"/>
            </a:gs>
            <a:gs pos="100000">
              <a:srgbClr val="101A2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!!accent"/>
          <p:cNvGrpSpPr/>
          <p:nvPr/>
        </p:nvGrpSpPr>
        <p:grpSpPr>
          <a:xfrm>
            <a:off x="914400" y="6096000"/>
            <a:ext cx="10363200" cy="76200"/>
            <a:chOff x="914400" y="6096000"/>
            <a:chExt cx="10363200" cy="76200"/>
          </a:xfrm>
        </p:grpSpPr>
        <p:sp>
          <p:nvSpPr>
            <p:cNvPr id="2" name="Rectangle 2"/>
            <p:cNvSpPr/>
            <p:nvPr/>
          </p:nvSpPr>
          <p:spPr>
            <a:xfrm>
              <a:off x="914400" y="6096000"/>
              <a:ext cx="103632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!!title"/>
          <p:cNvGrpSpPr/>
          <p:nvPr/>
        </p:nvGrpSpPr>
        <p:grpSpPr>
          <a:xfrm>
            <a:off x="895350" y="1193800"/>
            <a:ext cx="3897562" cy="762000"/>
            <a:chOff x="895350" y="1193800"/>
            <a:chExt cx="3897562" cy="762000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1193800"/>
              <a:ext cx="189126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 is air,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362200" y="1193800"/>
              <a:ext cx="24307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arranged.</a:t>
              </a:r>
            </a:p>
          </p:txBody>
        </p:sp>
      </p:grpSp>
      <p:grpSp>
        <p:nvGrpSpPr>
          <p:cNvPr id="20" name="s5-chart"/>
          <p:cNvGrpSpPr/>
          <p:nvPr/>
        </p:nvGrpSpPr>
        <p:grpSpPr>
          <a:xfrm>
            <a:off x="1714500" y="2711450"/>
            <a:ext cx="8382000" cy="2854833"/>
            <a:chOff x="1714500" y="2711450"/>
            <a:chExt cx="8382000" cy="2854833"/>
          </a:xfrm>
        </p:grpSpPr>
        <p:sp>
          <p:nvSpPr>
            <p:cNvPr id="7" name="Rectangle 7"/>
            <p:cNvSpPr/>
            <p:nvPr/>
          </p:nvSpPr>
          <p:spPr>
            <a:xfrm>
              <a:off x="1714500" y="5143500"/>
              <a:ext cx="8382000" cy="19050"/>
            </a:xfrm>
            <a:prstGeom prst="rect">
              <a:avLst/>
            </a:prstGeom>
            <a:solidFill>
              <a:srgbClr val="2A3E5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286000" y="3143250"/>
              <a:ext cx="1333500" cy="2000250"/>
            </a:xfrm>
            <a:prstGeom prst="roundRect">
              <a:avLst>
                <a:gd name="adj" fmla="val 3571"/>
              </a:avLst>
            </a:prstGeom>
            <a:gradFill>
              <a:gsLst>
                <a:gs pos="0">
                  <a:schemeClr val="accent1"/>
                </a:gs>
                <a:gs pos="100000">
                  <a:srgbClr val="FF7A5C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381500" y="3619500"/>
              <a:ext cx="1333500" cy="1524000"/>
            </a:xfrm>
            <a:prstGeom prst="roundRect">
              <a:avLst>
                <a:gd name="adj" fmla="val 3571"/>
              </a:avLst>
            </a:prstGeom>
            <a:gradFill>
              <a:gsLst>
                <a:gs pos="0">
                  <a:schemeClr val="accent2"/>
                </a:gs>
                <a:gs pos="100000">
                  <a:srgbClr val="FFE07A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477000" y="4095750"/>
              <a:ext cx="1333500" cy="1047750"/>
            </a:xfrm>
            <a:prstGeom prst="roundRect">
              <a:avLst>
                <a:gd name="adj" fmla="val 4545"/>
              </a:avLst>
            </a:prstGeom>
            <a:gradFill>
              <a:gsLst>
                <a:gs pos="0">
                  <a:srgbClr val="2E9BFF"/>
                </a:gs>
                <a:gs pos="100000">
                  <a:srgbClr val="7AC8FF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572500" y="4667250"/>
              <a:ext cx="1333500" cy="476250"/>
            </a:xfrm>
            <a:prstGeom prst="roundRect">
              <a:avLst>
                <a:gd name="adj" fmla="val 10000"/>
              </a:avLst>
            </a:prstGeom>
            <a:solidFill>
              <a:srgbClr val="3A4E6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88615" y="2711450"/>
              <a:ext cx="5282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84115" y="3187700"/>
              <a:ext cx="5282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63850" y="3663950"/>
              <a:ext cx="3598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2E9BFF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59350" y="4235450"/>
              <a:ext cx="3598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7C8DA6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19550" y="5302250"/>
              <a:ext cx="6664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Monaco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5132" y="5302250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Hungary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72150" y="5302250"/>
              <a:ext cx="34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56553" y="5302250"/>
              <a:ext cx="5653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Monza</a:t>
              </a:r>
            </a:p>
          </p:txBody>
        </p:sp>
      </p:grpSp>
    </p:spTree>
  </p:cSld>
  <p:clrMapOvr>
    <a:masterClrMapping/>
  </p:clrMapOvr>
  <mc:AlternateContent>
    <mc:Choice Requires="p159">
      <p:transition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rph">
  <a:themeElements>
    <a:clrScheme name="morph">
      <a:dk1>
        <a:srgbClr val="F5F7FA"/>
      </a:dk1>
      <a:lt1>
        <a:srgbClr val="070A11"/>
      </a:lt1>
      <a:dk2>
        <a:srgbClr val="F5F7FA"/>
      </a:dk2>
      <a:lt2>
        <a:srgbClr val="070A11"/>
      </a:lt2>
      <a:accent1>
        <a:srgbClr val="FF3D71"/>
      </a:accent1>
      <a:accent2>
        <a:srgbClr val="FFB020"/>
      </a:accent2>
      <a:accent3>
        <a:srgbClr val="FFB020"/>
      </a:accent3>
      <a:accent4>
        <a:srgbClr val="FF3D71"/>
      </a:accent4>
      <a:accent5>
        <a:srgbClr val="8FA3BF"/>
      </a:accent5>
      <a:accent6>
        <a:srgbClr val="0E1626"/>
      </a:accent6>
      <a:hlink>
        <a:srgbClr val="FFB020"/>
      </a:hlink>
      <a:folHlink>
        <a:srgbClr val="FFB020"/>
      </a:folHlink>
    </a:clrScheme>
    <a:fontScheme name="morp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rp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2026-10-11T19:31:34Z</dcterms:created>
  <dcterms:modified xsi:type="dcterms:W3CDTF">2026-10-11T19:31:34Z</dcterms:modified>
  <cp:category/>
  <cp:contentStatus/>
</cp:coreProperties>
</file>