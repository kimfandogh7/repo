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16x9"/>
  <p:notesSz cx="6858000" cy="9144000"/>
  <p:defaultTextStyle>
    <a:defPPr>
      <a:defRPr lang="en"/>
    </a:defPPr>
    <a:lvl1pPr marL="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f1deck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f1deck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200" kern="1200" lang="e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5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4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3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2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1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05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e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"/>
      </a:defPPr>
      <a:lvl1pPr marL="0" algn="l" defTabSz="457200" rtl="0" eaLnBrk="1" latinLnBrk="0" hangingPunct="1">
        <a:defRPr sz="15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4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3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2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1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05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95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5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e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b2919dd1bde6af4.jp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lt1"/>
            </a:gs>
            <a:gs pos="55000">
              <a:srgbClr val="132033"/>
            </a:gs>
            <a:gs pos="100000">
              <a:schemeClr val="lt1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low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35000"/>
                </a:schemeClr>
              </a:gs>
              <a:gs pos="100000">
                <a:schemeClr val="accent1">
                  <a:alpha val="0"/>
                </a:schemeClr>
              </a:gs>
            </a:gsLst>
            <a:path path="circle">
              <a:fillToRect l="78000" t="28000" r="22000" b="72000"/>
            </a:path>
          </a:gradFill>
          <a:ln>
            <a:noFill/>
          </a:ln>
        </p:spPr>
      </p:sp>
      <p:grpSp>
        <p:nvGrpSpPr>
          <p:cNvPr id="9" name="grid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 3"/>
            <p:cNvSpPr/>
            <p:nvPr/>
          </p:nvSpPr>
          <p:spPr>
            <a:xfrm>
              <a:off x="0" y="1714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solidFill>
              <a:srgbClr val="000000">
                <a:alpha val="50000"/>
              </a:srgbClr>
            </a:solidFill>
            <a:ln w="9525">
              <a:solidFill>
                <a:srgbClr val="1E3A5F">
                  <a:alpha val="50000"/>
                </a:srgbClr>
              </a:solidFill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34290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solidFill>
              <a:srgbClr val="000000">
                <a:alpha val="50000"/>
              </a:srgbClr>
            </a:solidFill>
            <a:ln w="9525">
              <a:solidFill>
                <a:srgbClr val="1E3A5F">
                  <a:alpha val="50000"/>
                </a:srgbClr>
              </a:solidFill>
            </a:ln>
          </p:spPr>
        </p:sp>
        <p:sp>
          <p:nvSpPr>
            <p:cNvPr id="5" name="Freeform 5"/>
            <p:cNvSpPr/>
            <p:nvPr/>
          </p:nvSpPr>
          <p:spPr>
            <a:xfrm>
              <a:off x="0" y="5143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solidFill>
              <a:srgbClr val="000000">
                <a:alpha val="50000"/>
              </a:srgbClr>
            </a:solidFill>
            <a:ln w="9525">
              <a:solidFill>
                <a:srgbClr val="1E3A5F">
                  <a:alpha val="50000"/>
                </a:srgbClr>
              </a:solidFill>
            </a:ln>
          </p:spPr>
        </p:sp>
        <p:sp>
          <p:nvSpPr>
            <p:cNvPr id="6" name="Freeform 6"/>
            <p:cNvSpPr/>
            <p:nvPr/>
          </p:nvSpPr>
          <p:spPr>
            <a:xfrm>
              <a:off x="3048000" y="0"/>
              <a:ext cx="9525" cy="6858000"/>
            </a:xfrm>
            <a:custGeom>
              <a:avLst/>
              <a:gdLst/>
              <a:ahLst/>
              <a:cxnLst/>
              <a:rect l="l" t="t" r="r" b="b"/>
              <a:pathLst>
                <a:path w="9525" h="685800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solidFill>
              <a:srgbClr val="000000">
                <a:alpha val="50000"/>
              </a:srgbClr>
            </a:solidFill>
            <a:ln w="9525">
              <a:solidFill>
                <a:srgbClr val="1E3A5F">
                  <a:alpha val="50000"/>
                </a:srgbClr>
              </a:solidFill>
            </a:ln>
          </p:spPr>
        </p:sp>
        <p:sp>
          <p:nvSpPr>
            <p:cNvPr id="7" name="Freeform 7"/>
            <p:cNvSpPr/>
            <p:nvPr/>
          </p:nvSpPr>
          <p:spPr>
            <a:xfrm>
              <a:off x="6096000" y="0"/>
              <a:ext cx="9525" cy="6858000"/>
            </a:xfrm>
            <a:custGeom>
              <a:avLst/>
              <a:gdLst/>
              <a:ahLst/>
              <a:cxnLst/>
              <a:rect l="l" t="t" r="r" b="b"/>
              <a:pathLst>
                <a:path w="9525" h="685800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solidFill>
              <a:srgbClr val="000000">
                <a:alpha val="50000"/>
              </a:srgbClr>
            </a:solidFill>
            <a:ln w="9525">
              <a:solidFill>
                <a:srgbClr val="1E3A5F">
                  <a:alpha val="50000"/>
                </a:srgbClr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9144000" y="0"/>
              <a:ext cx="9525" cy="6858000"/>
            </a:xfrm>
            <a:custGeom>
              <a:avLst/>
              <a:gdLst/>
              <a:ahLst/>
              <a:cxnLst/>
              <a:rect l="l" t="t" r="r" b="b"/>
              <a:pathLst>
                <a:path w="9525" h="685800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solidFill>
              <a:srgbClr val="000000">
                <a:alpha val="50000"/>
              </a:srgbClr>
            </a:solidFill>
            <a:ln w="9525">
              <a:solidFill>
                <a:srgbClr val="1E3A5F">
                  <a:alpha val="50000"/>
                </a:srgbClr>
              </a:solidFill>
            </a:ln>
          </p:spPr>
        </p:sp>
      </p:grpSp>
      <p:sp>
        <p:nvSpPr>
          <p:cNvPr id="10" name="accent-bar"/>
          <p:cNvSpPr/>
          <p:nvPr/>
        </p:nvSpPr>
        <p:spPr>
          <a:xfrm>
            <a:off x="914400" y="2362200"/>
            <a:ext cx="76200" cy="12573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0" scaled="1"/>
          </a:gradFill>
          <a:ln>
            <a:noFill/>
          </a:ln>
        </p:spPr>
      </p:sp>
      <p:sp>
        <p:nvSpPr>
          <p:cNvPr id="11" name="eyebrow"/>
          <p:cNvSpPr txBox="1"/>
          <p:nvPr/>
        </p:nvSpPr>
        <p:spPr>
          <a:xfrm>
            <a:off x="1211580" y="2190750"/>
            <a:ext cx="4057857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" sz="1500" b="1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FORMULA 1 · 2026 SEASON</a:t>
            </a:r>
          </a:p>
        </p:txBody>
      </p:sp>
      <p:sp>
        <p:nvSpPr>
          <p:cNvPr id="12" name="title-a"/>
          <p:cNvSpPr txBox="1"/>
          <p:nvPr/>
        </p:nvSpPr>
        <p:spPr>
          <a:xfrm>
            <a:off x="1200150" y="2305050"/>
            <a:ext cx="5044618" cy="1190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" sz="615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THE SHAPE</a:t>
            </a:r>
          </a:p>
        </p:txBody>
      </p:sp>
      <p:sp>
        <p:nvSpPr>
          <p:cNvPr id="13" name="title-b"/>
          <p:cNvSpPr txBox="1"/>
          <p:nvPr/>
        </p:nvSpPr>
        <p:spPr>
          <a:xfrm>
            <a:off x="1200150" y="3105150"/>
            <a:ext cx="4461492" cy="1190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" sz="615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OF SPEED</a:t>
            </a:r>
          </a:p>
        </p:txBody>
      </p:sp>
      <p:sp>
        <p:nvSpPr>
          <p:cNvPr id="14" name="subtitle"/>
          <p:cNvSpPr txBox="1"/>
          <p:nvPr/>
        </p:nvSpPr>
        <p:spPr>
          <a:xfrm>
            <a:off x="1210056" y="4286250"/>
            <a:ext cx="475381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" sz="1800" dirty="0">
                <a:solidFill>
                  <a:srgbClr val="8FA3BF"/>
                </a:solidFill>
                <a:latin typeface="+mn-lt"/>
                <a:ea typeface="+mn-ea"/>
                <a:cs typeface="+mn-cs"/>
              </a:rPr>
              <a:t>How aerodynamics decides a championship</a:t>
            </a:r>
          </a:p>
        </p:txBody>
      </p:sp>
      <p:sp>
        <p:nvSpPr>
          <p:cNvPr id="15" name="divider"/>
          <p:cNvSpPr/>
          <p:nvPr/>
        </p:nvSpPr>
        <p:spPr>
          <a:xfrm>
            <a:off x="1219200" y="4914900"/>
            <a:ext cx="1714500" cy="285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6" name="footer"/>
          <p:cNvSpPr txBox="1"/>
          <p:nvPr/>
        </p:nvSpPr>
        <p:spPr>
          <a:xfrm>
            <a:off x="1213104" y="5943600"/>
            <a:ext cx="218997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" sz="1200" dirty="0">
                <a:solidFill>
                  <a:srgbClr val="5A6B85"/>
                </a:solidFill>
                <a:latin typeface="+mn-lt"/>
                <a:ea typeface="+mn-ea"/>
                <a:cs typeface="+mn-cs"/>
              </a:rPr>
              <a:t>Generated locally · ppt-master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lt1"/>
            </a:gs>
            <a:gs pos="100000">
              <a:srgbClr val="111C2E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"/>
          <p:cNvGrpSpPr/>
          <p:nvPr/>
        </p:nvGrpSpPr>
        <p:grpSpPr>
          <a:xfrm>
            <a:off x="895350" y="825500"/>
            <a:ext cx="10382250" cy="1060450"/>
            <a:chOff x="895350" y="825500"/>
            <a:chExt cx="10382250" cy="1060450"/>
          </a:xfrm>
        </p:grpSpPr>
        <p:sp>
          <p:nvSpPr>
            <p:cNvPr id="2" name="kicker"/>
            <p:cNvSpPr txBox="1"/>
            <p:nvPr/>
          </p:nvSpPr>
          <p:spPr>
            <a:xfrm>
              <a:off x="907542" y="825500"/>
              <a:ext cx="28939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350" b="1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DOWNFORCE BY TEAM</a:t>
              </a:r>
            </a:p>
          </p:txBody>
        </p:sp>
        <p:sp>
          <p:nvSpPr>
            <p:cNvPr id="3" name="headline"/>
            <p:cNvSpPr txBox="1"/>
            <p:nvPr/>
          </p:nvSpPr>
          <p:spPr>
            <a:xfrm>
              <a:off x="895350" y="1066800"/>
              <a:ext cx="6691222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4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Where the tenths are won</a:t>
              </a:r>
            </a:p>
          </p:txBody>
        </p:sp>
        <p:sp>
          <p:nvSpPr>
            <p:cNvPr id="4" name="rule"/>
            <p:cNvSpPr/>
            <p:nvPr/>
          </p:nvSpPr>
          <p:spPr>
            <a:xfrm>
              <a:off x="914400" y="1866900"/>
              <a:ext cx="10363200" cy="19050"/>
            </a:xfrm>
            <a:prstGeom prst="rect">
              <a:avLst/>
            </a:prstGeom>
            <a:solidFill>
              <a:srgbClr val="1E3A5F"/>
            </a:solidFill>
            <a:ln>
              <a:noFill/>
            </a:ln>
          </p:spPr>
        </p:sp>
      </p:grpSp>
      <p:grpSp>
        <p:nvGrpSpPr>
          <p:cNvPr id="19" name="chart"/>
          <p:cNvGrpSpPr/>
          <p:nvPr/>
        </p:nvGrpSpPr>
        <p:grpSpPr>
          <a:xfrm>
            <a:off x="1714500" y="2387600"/>
            <a:ext cx="8382000" cy="3388233"/>
            <a:chOff x="1714500" y="2387600"/>
            <a:chExt cx="8382000" cy="3388233"/>
          </a:xfrm>
        </p:grpSpPr>
        <p:sp>
          <p:nvSpPr>
            <p:cNvPr id="6" name="axis"/>
            <p:cNvSpPr/>
            <p:nvPr/>
          </p:nvSpPr>
          <p:spPr>
            <a:xfrm>
              <a:off x="1714500" y="5334000"/>
              <a:ext cx="8382000" cy="19050"/>
            </a:xfrm>
            <a:prstGeom prst="rect">
              <a:avLst/>
            </a:prstGeom>
            <a:solidFill>
              <a:srgbClr val="2A3E5C"/>
            </a:solidFill>
            <a:ln>
              <a:noFill/>
            </a:ln>
          </p:spPr>
        </p:sp>
        <p:sp>
          <p:nvSpPr>
            <p:cNvPr id="7" name="bar-1"/>
            <p:cNvSpPr/>
            <p:nvPr/>
          </p:nvSpPr>
          <p:spPr>
            <a:xfrm>
              <a:off x="2095500" y="2857500"/>
              <a:ext cx="1428750" cy="2476500"/>
            </a:xfrm>
            <a:prstGeom prst="roundRect">
              <a:avLst>
                <a:gd name="adj" fmla="val 4000"/>
              </a:avLst>
            </a:prstGeom>
            <a:gradFill>
              <a:gsLst>
                <a:gs pos="0">
                  <a:schemeClr val="accent1"/>
                </a:gs>
                <a:gs pos="100000">
                  <a:srgbClr val="FF7A5C"/>
                </a:gs>
              </a:gsLst>
              <a:lin ang="16200000" scaled="1"/>
            </a:gradFill>
            <a:ln>
              <a:noFill/>
            </a:ln>
          </p:spPr>
        </p:sp>
        <p:sp>
          <p:nvSpPr>
            <p:cNvPr id="8" name="bar-2"/>
            <p:cNvSpPr/>
            <p:nvPr/>
          </p:nvSpPr>
          <p:spPr>
            <a:xfrm>
              <a:off x="4286250" y="3429000"/>
              <a:ext cx="1428750" cy="1905000"/>
            </a:xfrm>
            <a:prstGeom prst="roundRect">
              <a:avLst>
                <a:gd name="adj" fmla="val 4000"/>
              </a:avLst>
            </a:prstGeom>
            <a:gradFill>
              <a:gsLst>
                <a:gs pos="0">
                  <a:schemeClr val="accent2"/>
                </a:gs>
                <a:gs pos="100000">
                  <a:srgbClr val="FFE07A"/>
                </a:gs>
              </a:gsLst>
              <a:lin ang="16200000" scaled="1"/>
            </a:gradFill>
            <a:ln>
              <a:noFill/>
            </a:ln>
          </p:spPr>
        </p:sp>
        <p:sp>
          <p:nvSpPr>
            <p:cNvPr id="9" name="bar-3"/>
            <p:cNvSpPr/>
            <p:nvPr/>
          </p:nvSpPr>
          <p:spPr>
            <a:xfrm>
              <a:off x="6477000" y="3905250"/>
              <a:ext cx="1428750" cy="1428750"/>
            </a:xfrm>
            <a:prstGeom prst="roundRect">
              <a:avLst>
                <a:gd name="adj" fmla="val 4000"/>
              </a:avLst>
            </a:prstGeom>
            <a:gradFill>
              <a:gsLst>
                <a:gs pos="0">
                  <a:srgbClr val="2E9BFF"/>
                </a:gs>
                <a:gs pos="100000">
                  <a:srgbClr val="7AC8FF"/>
                </a:gs>
              </a:gsLst>
              <a:lin ang="16200000" scaled="1"/>
            </a:gradFill>
            <a:ln>
              <a:noFill/>
            </a:ln>
          </p:spPr>
        </p:sp>
        <p:sp>
          <p:nvSpPr>
            <p:cNvPr id="10" name="bar-4"/>
            <p:cNvSpPr/>
            <p:nvPr/>
          </p:nvSpPr>
          <p:spPr>
            <a:xfrm>
              <a:off x="8667750" y="4476750"/>
              <a:ext cx="1428750" cy="857250"/>
            </a:xfrm>
            <a:prstGeom prst="roundRect">
              <a:avLst>
                <a:gd name="adj" fmla="val 6667"/>
              </a:avLst>
            </a:prstGeom>
            <a:solidFill>
              <a:srgbClr val="3A4E6B"/>
            </a:solidFill>
            <a:ln>
              <a:noFill/>
            </a:ln>
          </p:spPr>
        </p:sp>
        <p:sp>
          <p:nvSpPr>
            <p:cNvPr id="11" name="val-1"/>
            <p:cNvSpPr txBox="1"/>
            <p:nvPr/>
          </p:nvSpPr>
          <p:spPr>
            <a:xfrm>
              <a:off x="2510522" y="2387600"/>
              <a:ext cx="59870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5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142</a:t>
              </a:r>
            </a:p>
          </p:txBody>
        </p:sp>
        <p:sp>
          <p:nvSpPr>
            <p:cNvPr id="12" name="val-2"/>
            <p:cNvSpPr txBox="1"/>
            <p:nvPr/>
          </p:nvSpPr>
          <p:spPr>
            <a:xfrm>
              <a:off x="4701272" y="2959100"/>
              <a:ext cx="59870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5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118</a:t>
              </a:r>
            </a:p>
          </p:txBody>
        </p:sp>
        <p:sp>
          <p:nvSpPr>
            <p:cNvPr id="13" name="val-3"/>
            <p:cNvSpPr txBox="1"/>
            <p:nvPr/>
          </p:nvSpPr>
          <p:spPr>
            <a:xfrm>
              <a:off x="6987488" y="3435350"/>
              <a:ext cx="40777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550" b="1" dirty="0">
                  <a:solidFill>
                    <a:srgbClr val="2E9BFF"/>
                  </a:solidFill>
                  <a:latin typeface="+mn-lt"/>
                  <a:ea typeface="+mn-ea"/>
                  <a:cs typeface="+mn-cs"/>
                </a:rPr>
                <a:t>96</a:t>
              </a:r>
            </a:p>
          </p:txBody>
        </p:sp>
        <p:sp>
          <p:nvSpPr>
            <p:cNvPr id="14" name="val-4"/>
            <p:cNvSpPr txBox="1"/>
            <p:nvPr/>
          </p:nvSpPr>
          <p:spPr>
            <a:xfrm>
              <a:off x="9178238" y="4006850"/>
              <a:ext cx="40777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2550" b="1" dirty="0">
                  <a:solidFill>
                    <a:srgbClr val="7C8DA6"/>
                  </a:solidFill>
                  <a:latin typeface="+mn-lt"/>
                  <a:ea typeface="+mn-ea"/>
                  <a:cs typeface="+mn-cs"/>
                </a:rPr>
                <a:t>61</a:t>
              </a:r>
            </a:p>
          </p:txBody>
        </p:sp>
        <p:sp>
          <p:nvSpPr>
            <p:cNvPr id="15" name="lbl-1"/>
            <p:cNvSpPr txBox="1"/>
            <p:nvPr/>
          </p:nvSpPr>
          <p:spPr>
            <a:xfrm>
              <a:off x="2477683" y="5511800"/>
              <a:ext cx="6643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350" dirty="0">
                  <a:solidFill>
                    <a:srgbClr val="8FA3BF"/>
                  </a:solidFill>
                  <a:latin typeface="+mn-lt"/>
                  <a:ea typeface="+mn-ea"/>
                  <a:cs typeface="+mn-cs"/>
                </a:rPr>
                <a:t>Team A</a:t>
              </a:r>
            </a:p>
          </p:txBody>
        </p:sp>
        <p:sp>
          <p:nvSpPr>
            <p:cNvPr id="16" name="lbl-2"/>
            <p:cNvSpPr txBox="1"/>
            <p:nvPr/>
          </p:nvSpPr>
          <p:spPr>
            <a:xfrm>
              <a:off x="4668433" y="5511800"/>
              <a:ext cx="6643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350" dirty="0">
                  <a:solidFill>
                    <a:srgbClr val="8FA3BF"/>
                  </a:solidFill>
                  <a:latin typeface="+mn-lt"/>
                  <a:ea typeface="+mn-ea"/>
                  <a:cs typeface="+mn-cs"/>
                </a:rPr>
                <a:t>Team B</a:t>
              </a:r>
            </a:p>
          </p:txBody>
        </p:sp>
        <p:sp>
          <p:nvSpPr>
            <p:cNvPr id="17" name="lbl-3"/>
            <p:cNvSpPr txBox="1"/>
            <p:nvPr/>
          </p:nvSpPr>
          <p:spPr>
            <a:xfrm>
              <a:off x="6854054" y="5511800"/>
              <a:ext cx="6746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350" dirty="0">
                  <a:solidFill>
                    <a:srgbClr val="8FA3BF"/>
                  </a:solidFill>
                  <a:latin typeface="+mn-lt"/>
                  <a:ea typeface="+mn-ea"/>
                  <a:cs typeface="+mn-cs"/>
                </a:rPr>
                <a:t>Team C</a:t>
              </a:r>
            </a:p>
          </p:txBody>
        </p:sp>
        <p:sp>
          <p:nvSpPr>
            <p:cNvPr id="18" name="lbl-4"/>
            <p:cNvSpPr txBox="1"/>
            <p:nvPr/>
          </p:nvSpPr>
          <p:spPr>
            <a:xfrm>
              <a:off x="9044804" y="5511800"/>
              <a:ext cx="6746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350" dirty="0">
                  <a:solidFill>
                    <a:srgbClr val="8FA3BF"/>
                  </a:solidFill>
                  <a:latin typeface="+mn-lt"/>
                  <a:ea typeface="+mn-ea"/>
                  <a:cs typeface="+mn-cs"/>
                </a:rPr>
                <a:t>Team D</a:t>
              </a:r>
            </a:p>
          </p:txBody>
        </p:sp>
      </p:grpSp>
      <p:grpSp>
        <p:nvGrpSpPr>
          <p:cNvPr id="21" name="foot"/>
          <p:cNvGrpSpPr/>
          <p:nvPr/>
        </p:nvGrpSpPr>
        <p:grpSpPr>
          <a:xfrm>
            <a:off x="908685" y="6223000"/>
            <a:ext cx="1834385" cy="220028"/>
            <a:chOff x="908685" y="6223000"/>
            <a:chExt cx="1834385" cy="220028"/>
          </a:xfrm>
        </p:grpSpPr>
        <p:sp>
          <p:nvSpPr>
            <p:cNvPr id="20" name="note"/>
            <p:cNvSpPr txBox="1"/>
            <p:nvPr/>
          </p:nvSpPr>
          <p:spPr>
            <a:xfrm>
              <a:off x="908685" y="6223000"/>
              <a:ext cx="1834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dirty="0">
                  <a:solidFill>
                    <a:srgbClr val="5A6B85"/>
                  </a:solidFill>
                  <a:latin typeface="+mn-lt"/>
                  <a:ea typeface="+mn-ea"/>
                  <a:cs typeface="+mn-cs"/>
                </a:rPr>
                <a:t>Index, 100 = 2024 baseline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9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60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lt1"/>
            </a:gs>
            <a:gs pos="100000">
              <a:srgbClr val="1A0E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-3"/>
          <p:cNvSpPr/>
          <p:nvPr/>
        </p:nvSpPr>
        <p:spPr>
          <a:xfrm>
            <a:off x="7524750" y="1143000"/>
            <a:ext cx="4572000" cy="4572000"/>
          </a:xfrm>
          <a:prstGeom prst="ellipse">
            <a:avLst/>
          </a:prstGeom>
          <a:noFill/>
          <a:ln w="19050">
            <a:gradFill>
              <a:gsLst>
                <a:gs pos="0">
                  <a:schemeClr val="accent1">
                    <a:alpha val="25000"/>
                  </a:schemeClr>
                </a:gs>
                <a:gs pos="100000">
                  <a:schemeClr val="accent2">
                    <a:alpha val="25000"/>
                  </a:schemeClr>
                </a:gs>
              </a:gsLst>
              <a:lin ang="2700000" scaled="1"/>
            </a:gradFill>
          </a:ln>
        </p:spPr>
      </p:sp>
      <p:sp>
        <p:nvSpPr>
          <p:cNvPr id="3" name="ring-2"/>
          <p:cNvSpPr/>
          <p:nvPr/>
        </p:nvSpPr>
        <p:spPr>
          <a:xfrm>
            <a:off x="8191500" y="1809750"/>
            <a:ext cx="3238500" cy="3238500"/>
          </a:xfrm>
          <a:prstGeom prst="ellipse">
            <a:avLst/>
          </a:prstGeom>
          <a:noFill/>
          <a:ln w="28575">
            <a:gradFill>
              <a:gsLst>
                <a:gs pos="0">
                  <a:schemeClr val="accent1">
                    <a:alpha val="45000"/>
                  </a:schemeClr>
                </a:gs>
                <a:gs pos="100000">
                  <a:schemeClr val="accent2">
                    <a:alpha val="45000"/>
                  </a:schemeClr>
                </a:gs>
              </a:gsLst>
              <a:lin ang="2700000" scaled="1"/>
            </a:gradFill>
          </a:ln>
        </p:spPr>
      </p:sp>
      <p:sp>
        <p:nvSpPr>
          <p:cNvPr id="4" name="ring-1"/>
          <p:cNvSpPr/>
          <p:nvPr/>
        </p:nvSpPr>
        <p:spPr>
          <a:xfrm>
            <a:off x="8858250" y="2476500"/>
            <a:ext cx="1905000" cy="1905000"/>
          </a:xfrm>
          <a:prstGeom prst="ellipse">
            <a:avLst/>
          </a:prstGeom>
          <a:noFill/>
          <a:ln w="47625">
            <a:gradFill>
              <a:gsLst>
                <a:gs pos="0">
                  <a:schemeClr val="accent1">
                    <a:alpha val="80000"/>
                  </a:schemeClr>
                </a:gs>
                <a:gs pos="100000">
                  <a:schemeClr val="accent2">
                    <a:alpha val="80000"/>
                  </a:schemeClr>
                </a:gs>
              </a:gsLst>
              <a:lin ang="2700000" scaled="1"/>
            </a:gradFill>
          </a:ln>
        </p:spPr>
      </p:sp>
      <p:sp>
        <p:nvSpPr>
          <p:cNvPr id="5" name="ring-core"/>
          <p:cNvSpPr/>
          <p:nvPr/>
        </p:nvSpPr>
        <p:spPr>
          <a:xfrm>
            <a:off x="9486900" y="3105150"/>
            <a:ext cx="647700" cy="64770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</a:gradFill>
          <a:ln>
            <a:noFill/>
          </a:ln>
        </p:spPr>
      </p:sp>
      <p:sp>
        <p:nvSpPr>
          <p:cNvPr id="6" name="bar"/>
          <p:cNvSpPr/>
          <p:nvPr/>
        </p:nvSpPr>
        <p:spPr>
          <a:xfrm>
            <a:off x="914400" y="2724150"/>
            <a:ext cx="76200" cy="142875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</a:gradFill>
          <a:ln>
            <a:noFill/>
          </a:ln>
        </p:spPr>
      </p:sp>
      <p:sp>
        <p:nvSpPr>
          <p:cNvPr id="7" name="kicker"/>
          <p:cNvSpPr txBox="1"/>
          <p:nvPr/>
        </p:nvSpPr>
        <p:spPr>
          <a:xfrm>
            <a:off x="1212342" y="2597150"/>
            <a:ext cx="202990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" sz="1350" b="1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THE TAKEAWAY</a:t>
            </a:r>
          </a:p>
        </p:txBody>
      </p:sp>
      <p:sp>
        <p:nvSpPr>
          <p:cNvPr id="8" name="line-1"/>
          <p:cNvSpPr txBox="1"/>
          <p:nvPr/>
        </p:nvSpPr>
        <p:spPr>
          <a:xfrm>
            <a:off x="1200150" y="2870200"/>
            <a:ext cx="3418567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" sz="42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Speed is not</a:t>
            </a:r>
          </a:p>
        </p:txBody>
      </p:sp>
      <p:sp>
        <p:nvSpPr>
          <p:cNvPr id="9" name="line-2"/>
          <p:cNvSpPr txBox="1"/>
          <p:nvPr/>
        </p:nvSpPr>
        <p:spPr>
          <a:xfrm>
            <a:off x="1200150" y="3517900"/>
            <a:ext cx="3306022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" sz="42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an accident.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1212723" y="5562600"/>
            <a:ext cx="890136" cy="2503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" sz="1280" dirty="0">
                <a:solidFill>
                  <a:srgbClr val="8FA3BF"/>
                </a:solidFill>
                <a:latin typeface="+mn-lt"/>
                <a:ea typeface="+mn-ea"/>
                <a:cs typeface="+mn-cs"/>
              </a:rPr>
              <a:t>Questions?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9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8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800"/>
                            </p:stCondLst>
                            <p:childTnLst>
                              <p:par>
                                <p:cTn xmlns:p="http://schemas.openxmlformats.org/presentationml/2006/main" id="10" presetID="2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800"/>
                            </p:stCondLst>
                            <p:childTnLst>
                              <p:par>
                                <p:cTn xmlns:p="http://schemas.openxmlformats.org/presentationml/2006/main" id="15" presetID="2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800"/>
                            </p:stCondLst>
                            <p:childTnLst>
                              <p:par>
                                <p:cTn xmlns:p="http://schemas.openxmlformats.org/presentationml/2006/main" id="20" presetID="2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800"/>
                            </p:stCondLst>
                            <p:childTnLst>
                              <p:par>
                                <p:cTn xmlns:p="http://schemas.openxmlformats.org/presentationml/2006/main" id="25" presetID="2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800"/>
                            </p:stCondLst>
                            <p:childTnLst>
                              <p:par>
                                <p:cTn xmlns:p="http://schemas.openxmlformats.org/presentationml/2006/main" id="30" presetID="2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800"/>
                            </p:stCondLst>
                            <p:childTnLst>
                              <p:par>
                                <p:cTn xmlns:p="http://schemas.openxmlformats.org/presentationml/2006/main" id="35" presetID="2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6800"/>
                            </p:stCondLst>
                            <p:childTnLst>
                              <p:par>
                                <p:cTn xmlns:p="http://schemas.openxmlformats.org/presentationml/2006/main" id="40" presetID="2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80D16"/>
            </a:gs>
            <a:gs pos="100000">
              <a:srgbClr val="111C2E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hoto"/>
          <p:cNvGrpSpPr/>
          <p:nvPr/>
        </p:nvGrpSpPr>
        <p:grpSpPr>
          <a:xfrm>
            <a:off x="1638300" y="1066800"/>
            <a:ext cx="4724400" cy="4724400"/>
            <a:chOff x="1638300" y="1066800"/>
            <a:chExt cx="4724400" cy="4724400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rcRect l="22728" t="0" r="22727" b="0"/>
            <a:stretch>
              <a:fillRect/>
            </a:stretch>
          </p:blipFill>
          <p:spPr>
            <a:xfrm>
              <a:off x="1638300" y="1066800"/>
              <a:ext cx="4724400" cy="4724400"/>
            </a:xfrm>
            <a:prstGeom prst="ellipse">
              <a:avLst/>
            </a:prstGeom>
          </p:spPr>
        </p:pic>
        <p:sp>
          <p:nvSpPr>
            <p:cNvPr id="3" name="Ellipse 3"/>
            <p:cNvSpPr/>
            <p:nvPr/>
          </p:nvSpPr>
          <p:spPr>
            <a:xfrm>
              <a:off x="1638300" y="1066800"/>
              <a:ext cx="4724400" cy="4724400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</p:sp>
      </p:grpSp>
      <p:grpSp>
        <p:nvGrpSpPr>
          <p:cNvPr id="11" name="copy"/>
          <p:cNvGrpSpPr/>
          <p:nvPr/>
        </p:nvGrpSpPr>
        <p:grpSpPr>
          <a:xfrm>
            <a:off x="7029450" y="2120900"/>
            <a:ext cx="3643689" cy="2687320"/>
            <a:chOff x="7029450" y="2120900"/>
            <a:chExt cx="3643689" cy="2687320"/>
          </a:xfrm>
        </p:grpSpPr>
        <p:sp>
          <p:nvSpPr>
            <p:cNvPr id="5" name="TextBox 5"/>
            <p:cNvSpPr txBox="1"/>
            <p:nvPr/>
          </p:nvSpPr>
          <p:spPr>
            <a:xfrm>
              <a:off x="7041642" y="2120900"/>
              <a:ext cx="20620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350" b="1" spc="3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AERODYNAMICS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029450" y="2514600"/>
              <a:ext cx="1781293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4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Grip is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029450" y="3105150"/>
              <a:ext cx="364368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4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invisible work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048500" y="3905250"/>
              <a:ext cx="1143000" cy="285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040880" y="4191000"/>
              <a:ext cx="26592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rgbClr val="8FA3BF"/>
                  </a:solidFill>
                  <a:latin typeface="+mn-lt"/>
                  <a:ea typeface="+mn-ea"/>
                  <a:cs typeface="+mn-cs"/>
                </a:rPr>
                <a:t>The wing does not lift the car.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040880" y="4514850"/>
              <a:ext cx="22883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rgbClr val="8FA3BF"/>
                  </a:solidFill>
                  <a:latin typeface="+mn-lt"/>
                  <a:ea typeface="+mn-ea"/>
                  <a:cs typeface="+mn-cs"/>
                </a:rPr>
                <a:t>It presses it into the road.</a:t>
              </a:r>
            </a:p>
          </p:txBody>
        </p:sp>
      </p:grpSp>
      <p:grpSp>
        <p:nvGrpSpPr>
          <p:cNvPr id="13" name="p-foot"/>
          <p:cNvGrpSpPr/>
          <p:nvPr/>
        </p:nvGrpSpPr>
        <p:grpSpPr>
          <a:xfrm>
            <a:off x="908685" y="6299200"/>
            <a:ext cx="3016702" cy="220028"/>
            <a:chOff x="908685" y="6299200"/>
            <a:chExt cx="3016702" cy="220028"/>
          </a:xfrm>
        </p:grpSpPr>
        <p:sp>
          <p:nvSpPr>
            <p:cNvPr id="12" name="TextBox 12"/>
            <p:cNvSpPr txBox="1"/>
            <p:nvPr/>
          </p:nvSpPr>
          <p:spPr>
            <a:xfrm>
              <a:off x="908685" y="6299200"/>
              <a:ext cx="30167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120" dirty="0">
                  <a:solidFill>
                    <a:srgbClr val="5A6B85"/>
                  </a:solidFill>
                  <a:latin typeface="+mn-lt"/>
                  <a:ea typeface="+mn-ea"/>
                  <a:cs typeface="+mn-cs"/>
                </a:rPr>
                <a:t>Image generated locally · embedded natively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9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35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f1deck">
  <a:themeElements>
    <a:clrScheme name="f1deck">
      <a:dk1>
        <a:srgbClr val="F5F7FA"/>
      </a:dk1>
      <a:lt1>
        <a:srgbClr val="0B1220"/>
      </a:lt1>
      <a:dk2>
        <a:srgbClr val="F5F7FA"/>
      </a:dk2>
      <a:lt2>
        <a:srgbClr val="0B1220"/>
      </a:lt2>
      <a:accent1>
        <a:srgbClr val="FF3D71"/>
      </a:accent1>
      <a:accent2>
        <a:srgbClr val="FFB020"/>
      </a:accent2>
      <a:accent3>
        <a:srgbClr val="FFB020"/>
      </a:accent3>
      <a:accent4>
        <a:srgbClr val="FF3D71"/>
      </a:accent4>
      <a:accent5>
        <a:srgbClr val="4BACC6"/>
      </a:accent5>
      <a:accent6>
        <a:srgbClr val="F79646"/>
      </a:accent6>
      <a:hlink>
        <a:srgbClr val="FFB020"/>
      </a:hlink>
      <a:folHlink>
        <a:srgbClr val="FFB020"/>
      </a:folHlink>
    </a:clrScheme>
    <a:fontScheme name="f1deck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1de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</dc:language>
  <cp:lastModifiedBy/>
  <cp:revision>1</cp:revision>
  <dcterms:created xsi:type="dcterms:W3CDTF">2026-10-11T19:01:34Z</dcterms:created>
  <dcterms:modified xsi:type="dcterms:W3CDTF">2026-10-11T19:01:34Z</dcterms:modified>
  <cp:category/>
  <cp:contentStatus/>
</cp:coreProperties>
</file>