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16x9"/>
  <p:notesSz cx="6858000" cy="9144000"/>
  <p:defaultTextStyle>
    <a:defPPr>
      <a:defRPr lang="en"/>
    </a:defPPr>
    <a:lvl1pPr marL="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f1deck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" smtClean="0"/>
              <a:t>1/27/13</a:t>
            </a:fld>
            <a:endParaRPr lang="e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" smtClean="0"/>
              <a:t>‹#›</a:t>
            </a:fld>
            <a:endParaRPr lang="e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f1deck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e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" smtClean="0"/>
              <a:t>1/27/13</a:t>
            </a:fld>
            <a:endParaRPr lang="e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e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e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" smtClean="0"/>
              <a:t>‹#›</a:t>
            </a:fld>
            <a:endParaRPr lang="e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200" kern="1200" lang="e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500" kern="1200" lang="e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400" kern="1200" lang="e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300" kern="1200" lang="e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200" kern="1200" lang="e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100" kern="1200" lang="e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 lang="e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 lang="e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50" kern="1200" lang="e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 lang="e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"/>
      </a:defPPr>
      <a:lvl1pPr marL="0" algn="l" defTabSz="457200" rtl="0" eaLnBrk="1" latinLnBrk="0" hangingPunct="1">
        <a:defRPr sz="1500" kern="1200" lang="e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400" kern="1200" lang="e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300" kern="1200" lang="e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200" kern="1200" lang="e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100" kern="1200" lang="e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050" kern="1200" lang="e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950" kern="1200" lang="e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50" kern="1200" lang="e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 lang="e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63d008491e89ffb4.jpg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c8151e67f75f34d8.jpg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304aecfce2f88036.jpg"/>
  <Relationship Id="rId3" Type="http://schemas.openxmlformats.org/officeDocument/2006/relationships/image" Target="../media/image_63d008491e89ffb4.jpg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0B12"/>
            </a:gs>
            <a:gs pos="55000">
              <a:srgbClr val="0F1A2B"/>
            </a:gs>
            <a:gs pos="100000">
              <a:srgbClr val="070B1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c-photo"/>
          <p:cNvGrpSpPr/>
          <p:nvPr/>
        </p:nvGrpSpPr>
        <p:grpSpPr>
          <a:xfrm>
            <a:off x="5905500" y="0"/>
            <a:ext cx="6286500" cy="6858000"/>
            <a:chOff x="5905500" y="0"/>
            <a:chExt cx="6286500" cy="6858000"/>
          </a:xfrm>
        </p:grpSpPr>
        <p:pic>
          <p:nvPicPr>
            <p:cNvPr id="2" name="Image 2"/>
            <p:cNvPicPr>
              <a:picLocks noChangeAspect="1"/>
            </p:cNvPicPr>
            <p:nvPr/>
          </p:nvPicPr>
          <p:blipFill>
            <a:blip r:embed="rId2"/>
            <a:srcRect l="25000" t="0" r="25000" b="0"/>
            <a:stretch>
              <a:fillRect/>
            </a:stretch>
          </p:blipFill>
          <p:spPr>
            <a:xfrm>
              <a:off x="5905500" y="0"/>
              <a:ext cx="6286500" cy="6858000"/>
            </a:xfrm>
            <a:prstGeom prst="rect">
              <a:avLst/>
            </a:prstGeom>
          </p:spPr>
        </p:pic>
        <p:sp>
          <p:nvSpPr>
            <p:cNvPr id="3" name="Rectangle 3"/>
            <p:cNvSpPr/>
            <p:nvPr/>
          </p:nvSpPr>
          <p:spPr>
            <a:xfrm>
              <a:off x="5905500" y="0"/>
              <a:ext cx="6286500" cy="6858000"/>
            </a:xfrm>
            <a:prstGeom prst="rect">
              <a:avLst/>
            </a:prstGeom>
            <a:solidFill>
              <a:srgbClr val="070B12">
                <a:alpha val="42000"/>
              </a:srgbClr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5905500" y="0"/>
              <a:ext cx="1714500" cy="6858000"/>
            </a:xfrm>
            <a:prstGeom prst="rect">
              <a:avLst/>
            </a:prstGeom>
            <a:gradFill>
              <a:gsLst>
                <a:gs pos="0">
                  <a:srgbClr val="070B12"/>
                </a:gs>
                <a:gs pos="58000">
                  <a:srgbClr val="070B12"/>
                </a:gs>
                <a:gs pos="100000">
                  <a:srgbClr val="070B1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-type"/>
          <p:cNvGrpSpPr/>
          <p:nvPr/>
        </p:nvGrpSpPr>
        <p:grpSpPr>
          <a:xfrm>
            <a:off x="914400" y="1866900"/>
            <a:ext cx="4738867" cy="2899791"/>
            <a:chOff x="914400" y="1866900"/>
            <a:chExt cx="4738867" cy="2899791"/>
          </a:xfrm>
        </p:grpSpPr>
        <p:sp>
          <p:nvSpPr>
            <p:cNvPr id="6" name="c-bar"/>
            <p:cNvSpPr/>
            <p:nvPr/>
          </p:nvSpPr>
          <p:spPr>
            <a:xfrm>
              <a:off x="914400" y="1866900"/>
              <a:ext cx="76200" cy="142875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7" name="c-kicker"/>
            <p:cNvSpPr txBox="1"/>
            <p:nvPr/>
          </p:nvSpPr>
          <p:spPr>
            <a:xfrm>
              <a:off x="1231773" y="1962150"/>
              <a:ext cx="244190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b="1" spc="37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FORMULA 1 · 2026</a:t>
              </a:r>
            </a:p>
          </p:txBody>
        </p:sp>
        <p:sp>
          <p:nvSpPr>
            <p:cNvPr id="8" name="c-t1"/>
            <p:cNvSpPr txBox="1"/>
            <p:nvPr/>
          </p:nvSpPr>
          <p:spPr>
            <a:xfrm>
              <a:off x="1219200" y="2108200"/>
              <a:ext cx="4434067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5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THE SHAPE</a:t>
              </a:r>
            </a:p>
          </p:txBody>
        </p:sp>
        <p:sp>
          <p:nvSpPr>
            <p:cNvPr id="9" name="c-t2"/>
            <p:cNvSpPr txBox="1"/>
            <p:nvPr/>
          </p:nvSpPr>
          <p:spPr>
            <a:xfrm>
              <a:off x="1219200" y="2813050"/>
              <a:ext cx="3922054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5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OF SPEED</a:t>
              </a:r>
            </a:p>
          </p:txBody>
        </p:sp>
        <p:sp>
          <p:nvSpPr>
            <p:cNvPr id="10" name="c-div"/>
            <p:cNvSpPr/>
            <p:nvPr/>
          </p:nvSpPr>
          <p:spPr>
            <a:xfrm>
              <a:off x="1238250" y="3905250"/>
              <a:ext cx="161925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c-sub"/>
            <p:cNvSpPr txBox="1"/>
            <p:nvPr/>
          </p:nvSpPr>
          <p:spPr>
            <a:xfrm>
              <a:off x="1230249" y="4152900"/>
              <a:ext cx="3297373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80" dirty="0">
                  <a:solidFill>
                    <a:srgbClr val="8FA3BF"/>
                  </a:solidFill>
                  <a:latin typeface="+mn-lt"/>
                  <a:ea typeface="+mn-ea"/>
                  <a:cs typeface="+mn-cs"/>
                </a:rPr>
                <a:t>How aerodynamics quietly decides</a:t>
              </a:r>
            </a:p>
          </p:txBody>
        </p:sp>
        <p:sp>
          <p:nvSpPr>
            <p:cNvPr id="12" name="c-sub2"/>
            <p:cNvSpPr txBox="1"/>
            <p:nvPr/>
          </p:nvSpPr>
          <p:spPr>
            <a:xfrm>
              <a:off x="1230249" y="4457700"/>
              <a:ext cx="2073318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80" dirty="0">
                  <a:solidFill>
                    <a:srgbClr val="8FA3BF"/>
                  </a:solidFill>
                  <a:latin typeface="+mn-lt"/>
                  <a:ea typeface="+mn-ea"/>
                  <a:cs typeface="+mn-cs"/>
                </a:rPr>
                <a:t>a world championship</a:t>
              </a:r>
            </a:p>
          </p:txBody>
        </p:sp>
      </p:grpSp>
      <p:grpSp>
        <p:nvGrpSpPr>
          <p:cNvPr id="15" name="c-foot"/>
          <p:cNvGrpSpPr/>
          <p:nvPr/>
        </p:nvGrpSpPr>
        <p:grpSpPr>
          <a:xfrm>
            <a:off x="909066" y="6369050"/>
            <a:ext cx="2664703" cy="205359"/>
            <a:chOff x="909066" y="6369050"/>
            <a:chExt cx="2664703" cy="205359"/>
          </a:xfrm>
        </p:grpSpPr>
        <p:sp>
          <p:nvSpPr>
            <p:cNvPr id="14" name="c-note"/>
            <p:cNvSpPr txBox="1"/>
            <p:nvPr/>
          </p:nvSpPr>
          <p:spPr>
            <a:xfrm>
              <a:off x="909066" y="6369050"/>
              <a:ext cx="266470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dirty="0">
                  <a:solidFill>
                    <a:srgbClr val="4E5E75"/>
                  </a:solidFill>
                  <a:latin typeface="+mn-lt"/>
                  <a:ea typeface="+mn-ea"/>
                  <a:cs typeface="+mn-cs"/>
                </a:rPr>
                <a:t>Generated locally · native PPTX · editable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6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xmlns:p="http://schemas.openxmlformats.org/presentationml/2006/main" id="10" presetID="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95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80D16"/>
            </a:gs>
            <a:gs pos="100000">
              <a:srgbClr val="111C2E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k-photo"/>
          <p:cNvGrpSpPr/>
          <p:nvPr/>
        </p:nvGrpSpPr>
        <p:grpSpPr>
          <a:xfrm>
            <a:off x="1485900" y="1181100"/>
            <a:ext cx="4724400" cy="4724400"/>
            <a:chOff x="1485900" y="1181100"/>
            <a:chExt cx="4724400" cy="4724400"/>
          </a:xfrm>
        </p:grpSpPr>
        <p:pic>
          <p:nvPicPr>
            <p:cNvPr id="2" name="Image 2"/>
            <p:cNvPicPr>
              <a:picLocks noChangeAspect="1"/>
            </p:cNvPicPr>
            <p:nvPr/>
          </p:nvPicPr>
          <p:blipFill>
            <a:blip r:embed="rId2"/>
            <a:srcRect l="22728" t="0" r="22727" b="0"/>
            <a:stretch>
              <a:fillRect/>
            </a:stretch>
          </p:blipFill>
          <p:spPr>
            <a:xfrm>
              <a:off x="1657350" y="1352550"/>
              <a:ext cx="4381500" cy="4381500"/>
            </a:xfrm>
            <a:prstGeom prst="ellipse">
              <a:avLst/>
            </a:prstGeom>
          </p:spPr>
        </p:pic>
        <p:sp>
          <p:nvSpPr>
            <p:cNvPr id="3" name="Ellipse 3"/>
            <p:cNvSpPr/>
            <p:nvPr/>
          </p:nvSpPr>
          <p:spPr>
            <a:xfrm>
              <a:off x="1657350" y="1352550"/>
              <a:ext cx="4381500" cy="438150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4" name="Ellipse 4"/>
            <p:cNvSpPr/>
            <p:nvPr/>
          </p:nvSpPr>
          <p:spPr>
            <a:xfrm>
              <a:off x="1485900" y="1181100"/>
              <a:ext cx="4724400" cy="4724400"/>
            </a:xfrm>
            <a:prstGeom prst="ellipse">
              <a:avLst/>
            </a:prstGeom>
            <a:noFill/>
            <a:ln w="9525">
              <a:solidFill>
                <a:srgbClr val="1E3A5F"/>
              </a:solidFill>
            </a:ln>
          </p:spPr>
        </p:sp>
      </p:grpSp>
      <p:grpSp>
        <p:nvGrpSpPr>
          <p:cNvPr id="9" name="k-head"/>
          <p:cNvGrpSpPr/>
          <p:nvPr/>
        </p:nvGrpSpPr>
        <p:grpSpPr>
          <a:xfrm>
            <a:off x="6763893" y="1447800"/>
            <a:ext cx="3764406" cy="1495870"/>
            <a:chOff x="6763893" y="1447800"/>
            <a:chExt cx="3764406" cy="1495870"/>
          </a:xfrm>
        </p:grpSpPr>
        <p:sp>
          <p:nvSpPr>
            <p:cNvPr id="6" name="TextBox 6"/>
            <p:cNvSpPr txBox="1"/>
            <p:nvPr/>
          </p:nvSpPr>
          <p:spPr>
            <a:xfrm>
              <a:off x="6775323" y="1447800"/>
              <a:ext cx="1910877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b="1" spc="3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THE PRINCIPLE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763893" y="1778000"/>
              <a:ext cx="3764406" cy="6894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5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Air is not empty.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763893" y="2254250"/>
              <a:ext cx="2393610" cy="6894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5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It is a tool.</a:t>
              </a:r>
            </a:p>
          </p:txBody>
        </p:sp>
      </p:grpSp>
      <p:grpSp>
        <p:nvGrpSpPr>
          <p:cNvPr id="20" name="k-rows"/>
          <p:cNvGrpSpPr/>
          <p:nvPr/>
        </p:nvGrpSpPr>
        <p:grpSpPr>
          <a:xfrm>
            <a:off x="6774180" y="3143250"/>
            <a:ext cx="4587240" cy="2295525"/>
            <a:chOff x="6774180" y="3143250"/>
            <a:chExt cx="4587240" cy="2295525"/>
          </a:xfrm>
        </p:grpSpPr>
        <p:sp>
          <p:nvSpPr>
            <p:cNvPr id="10" name="Rectangle 10"/>
            <p:cNvSpPr/>
            <p:nvPr/>
          </p:nvSpPr>
          <p:spPr>
            <a:xfrm>
              <a:off x="6781800" y="3143250"/>
              <a:ext cx="4572000" cy="9525"/>
            </a:xfrm>
            <a:prstGeom prst="rect">
              <a:avLst/>
            </a:prstGeom>
            <a:solidFill>
              <a:srgbClr val="1E3A5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774180" y="3448050"/>
              <a:ext cx="27493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rgbClr val="8FA3BF"/>
                  </a:solidFill>
                  <a:latin typeface="+mn-lt"/>
                  <a:ea typeface="+mn-ea"/>
                  <a:cs typeface="+mn-cs"/>
                </a:rPr>
                <a:t>A wing angled against the flow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021883" y="3448050"/>
              <a:ext cx="133953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pressure split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781800" y="3905250"/>
              <a:ext cx="4572000" cy="9525"/>
            </a:xfrm>
            <a:prstGeom prst="rect">
              <a:avLst/>
            </a:prstGeom>
            <a:solidFill>
              <a:srgbClr val="152744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774180" y="4210050"/>
              <a:ext cx="22447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rgbClr val="8FA3BF"/>
                  </a:solidFill>
                  <a:latin typeface="+mn-lt"/>
                  <a:ea typeface="+mn-ea"/>
                  <a:cs typeface="+mn-cs"/>
                </a:rPr>
                <a:t>High above, low beneath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910215" y="4210050"/>
              <a:ext cx="14512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net force down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781800" y="4667250"/>
              <a:ext cx="4572000" cy="9525"/>
            </a:xfrm>
            <a:prstGeom prst="rect">
              <a:avLst/>
            </a:prstGeom>
            <a:solidFill>
              <a:srgbClr val="152744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774180" y="4972050"/>
              <a:ext cx="286124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rgbClr val="8FA3BF"/>
                  </a:solidFill>
                  <a:latin typeface="+mn-lt"/>
                  <a:ea typeface="+mn-ea"/>
                  <a:cs typeface="+mn-cs"/>
                </a:rPr>
                <a:t>The car is pressed into the road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156893" y="4972050"/>
              <a:ext cx="120452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grip, for free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781800" y="5429250"/>
              <a:ext cx="4572000" cy="9525"/>
            </a:xfrm>
            <a:prstGeom prst="rect">
              <a:avLst/>
            </a:prstGeom>
            <a:solidFill>
              <a:srgbClr val="1E3A5F"/>
            </a:solidFill>
            <a:ln>
              <a:noFill/>
            </a:ln>
          </p:spPr>
        </p:sp>
      </p:grpSp>
      <p:grpSp>
        <p:nvGrpSpPr>
          <p:cNvPr id="22" name="k-foot"/>
          <p:cNvGrpSpPr/>
          <p:nvPr/>
        </p:nvGrpSpPr>
        <p:grpSpPr>
          <a:xfrm>
            <a:off x="909066" y="6407150"/>
            <a:ext cx="3644789" cy="205359"/>
            <a:chOff x="909066" y="6407150"/>
            <a:chExt cx="3644789" cy="205359"/>
          </a:xfrm>
        </p:grpSpPr>
        <p:sp>
          <p:nvSpPr>
            <p:cNvPr id="21" name="TextBox 21"/>
            <p:cNvSpPr txBox="1"/>
            <p:nvPr/>
          </p:nvSpPr>
          <p:spPr>
            <a:xfrm>
              <a:off x="909066" y="6407150"/>
              <a:ext cx="36447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dirty="0">
                  <a:solidFill>
                    <a:srgbClr val="4E5E75"/>
                  </a:solidFill>
                  <a:latin typeface="+mn-lt"/>
                  <a:ea typeface="+mn-ea"/>
                  <a:cs typeface="+mn-cs"/>
                </a:rPr>
                <a:t>Computational flow visualisation · image generated locally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9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9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9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900"/>
                            </p:stCondLst>
                            <p:childTnLst>
                              <p:par>
                                <p:cTn xmlns:p="http://schemas.openxmlformats.org/presentationml/2006/main" id="10" presetID="2" presetClass="entr" presetSubtype="4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750"/>
                            </p:stCondLst>
                            <p:childTnLst>
                              <p:par>
                                <p:cTn xmlns:p="http://schemas.openxmlformats.org/presentationml/2006/main" id="15" presetID="22" presetClass="entr" presetSubtype="4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8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700"/>
                            </p:stCondLst>
                            <p:childTnLst>
                              <p:par>
                                <p:cTn xmlns:p="http://schemas.openxmlformats.org/presentationml/2006/main" id="19" presetID="10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80D16"/>
            </a:gs>
            <a:gs pos="100000">
              <a:srgbClr val="101A2B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m-head"/>
          <p:cNvGrpSpPr/>
          <p:nvPr/>
        </p:nvGrpSpPr>
        <p:grpSpPr>
          <a:xfrm>
            <a:off x="897636" y="914400"/>
            <a:ext cx="6836919" cy="867664"/>
            <a:chOff x="897636" y="914400"/>
            <a:chExt cx="6836919" cy="867664"/>
          </a:xfrm>
        </p:grpSpPr>
        <p:sp>
          <p:nvSpPr>
            <p:cNvPr id="2" name="TextBox 2"/>
            <p:cNvSpPr txBox="1"/>
            <p:nvPr/>
          </p:nvSpPr>
          <p:spPr>
            <a:xfrm>
              <a:off x="907923" y="914400"/>
              <a:ext cx="80070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b="1" spc="3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SCALE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897636" y="1136650"/>
              <a:ext cx="6836919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3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The same car, two different jobs</a:t>
              </a:r>
            </a:p>
          </p:txBody>
        </p:sp>
      </p:grpSp>
      <p:grpSp>
        <p:nvGrpSpPr>
          <p:cNvPr id="10" name="m-left-card"/>
          <p:cNvGrpSpPr/>
          <p:nvPr/>
        </p:nvGrpSpPr>
        <p:grpSpPr>
          <a:xfrm>
            <a:off x="907161" y="1790700"/>
            <a:ext cx="4884039" cy="4139502"/>
            <a:chOff x="907161" y="1790700"/>
            <a:chExt cx="4884039" cy="4139502"/>
          </a:xfrm>
        </p:grpSpPr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2"/>
            <a:srcRect l="7686" t="0" r="7686" b="0"/>
            <a:stretch>
              <a:fillRect/>
            </a:stretch>
          </p:blipFill>
          <p:spPr>
            <a:xfrm>
              <a:off x="914400" y="1790700"/>
              <a:ext cx="4876800" cy="3143250"/>
            </a:xfrm>
            <a:prstGeom prst="roundRect">
              <a:avLst>
                <a:gd name="adj" fmla="val 3030"/>
              </a:avLst>
            </a:prstGeom>
          </p:spPr>
        </p:pic>
        <p:sp>
          <p:nvSpPr>
            <p:cNvPr id="6" name="Rectangle 6"/>
            <p:cNvSpPr/>
            <p:nvPr/>
          </p:nvSpPr>
          <p:spPr>
            <a:xfrm>
              <a:off x="914400" y="1790700"/>
              <a:ext cx="4876800" cy="3143250"/>
            </a:xfrm>
            <a:prstGeom prst="roundRect">
              <a:avLst>
                <a:gd name="adj" fmla="val 3030"/>
              </a:avLst>
            </a:prstGeom>
            <a:noFill/>
            <a:ln w="9525">
              <a:solidFill>
                <a:srgbClr val="22364F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07923" y="5143500"/>
              <a:ext cx="137807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b="1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FRONT WING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07161" y="5403850"/>
              <a:ext cx="199670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420" dirty="0">
                  <a:solidFill>
                    <a:srgbClr val="8FA3BF"/>
                  </a:solidFill>
                  <a:latin typeface="+mn-lt"/>
                  <a:ea typeface="+mn-ea"/>
                  <a:cs typeface="+mn-cs"/>
                </a:rPr>
                <a:t>Shapes the air before it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07161" y="5651500"/>
              <a:ext cx="228836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420" dirty="0">
                  <a:solidFill>
                    <a:srgbClr val="8FA3BF"/>
                  </a:solidFill>
                  <a:latin typeface="+mn-lt"/>
                  <a:ea typeface="+mn-ea"/>
                  <a:cs typeface="+mn-cs"/>
                </a:rPr>
                <a:t>reaches the rest of the car.</a:t>
              </a:r>
            </a:p>
          </p:txBody>
        </p:sp>
      </p:grpSp>
      <p:grpSp>
        <p:nvGrpSpPr>
          <p:cNvPr id="16" name="m-right-card"/>
          <p:cNvGrpSpPr/>
          <p:nvPr/>
        </p:nvGrpSpPr>
        <p:grpSpPr>
          <a:xfrm>
            <a:off x="6393561" y="1790700"/>
            <a:ext cx="4884039" cy="4139502"/>
            <a:chOff x="6393561" y="1790700"/>
            <a:chExt cx="4884039" cy="4139502"/>
          </a:xfrm>
        </p:grpSpPr>
        <p:pic>
          <p:nvPicPr>
            <p:cNvPr id="11" name="Image 11"/>
            <p:cNvPicPr>
              <a:picLocks noChangeAspect="1"/>
            </p:cNvPicPr>
            <p:nvPr/>
          </p:nvPicPr>
          <p:blipFill>
            <a:blip r:embed="rId3"/>
            <a:srcRect l="7686" t="0" r="7686" b="0"/>
            <a:stretch>
              <a:fillRect/>
            </a:stretch>
          </p:blipFill>
          <p:spPr>
            <a:xfrm>
              <a:off x="6400800" y="1790700"/>
              <a:ext cx="4876800" cy="3143250"/>
            </a:xfrm>
            <a:prstGeom prst="roundRect">
              <a:avLst>
                <a:gd name="adj" fmla="val 3030"/>
              </a:avLst>
            </a:prstGeom>
          </p:spPr>
        </p:pic>
        <p:sp>
          <p:nvSpPr>
            <p:cNvPr id="12" name="Rectangle 12"/>
            <p:cNvSpPr/>
            <p:nvPr/>
          </p:nvSpPr>
          <p:spPr>
            <a:xfrm>
              <a:off x="6400800" y="1790700"/>
              <a:ext cx="4876800" cy="3143250"/>
            </a:xfrm>
            <a:prstGeom prst="roundRect">
              <a:avLst>
                <a:gd name="adj" fmla="val 3030"/>
              </a:avLst>
            </a:prstGeom>
            <a:noFill/>
            <a:ln w="9525">
              <a:solidFill>
                <a:srgbClr val="22364F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394323" y="5143500"/>
              <a:ext cx="130626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WHOLE CAR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393561" y="5403850"/>
              <a:ext cx="1752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420" dirty="0">
                  <a:solidFill>
                    <a:srgbClr val="8FA3BF"/>
                  </a:solidFill>
                  <a:latin typeface="+mn-lt"/>
                  <a:ea typeface="+mn-ea"/>
                  <a:cs typeface="+mn-cs"/>
                </a:rPr>
                <a:t>Every surface is one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393561" y="5651500"/>
              <a:ext cx="208642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420" dirty="0">
                  <a:solidFill>
                    <a:srgbClr val="8FA3BF"/>
                  </a:solidFill>
                  <a:latin typeface="+mn-lt"/>
                  <a:ea typeface="+mn-ea"/>
                  <a:cs typeface="+mn-cs"/>
                </a:rPr>
                <a:t>continuous compromise.</a:t>
              </a:r>
            </a:p>
          </p:txBody>
        </p:sp>
      </p:grpSp>
      <p:grpSp>
        <p:nvGrpSpPr>
          <p:cNvPr id="18" name="m-foot"/>
          <p:cNvGrpSpPr/>
          <p:nvPr/>
        </p:nvGrpSpPr>
        <p:grpSpPr>
          <a:xfrm>
            <a:off x="909066" y="6426200"/>
            <a:ext cx="3841711" cy="205359"/>
            <a:chOff x="909066" y="6426200"/>
            <a:chExt cx="3841711" cy="205359"/>
          </a:xfrm>
        </p:grpSpPr>
        <p:sp>
          <p:nvSpPr>
            <p:cNvPr id="17" name="TextBox 17"/>
            <p:cNvSpPr txBox="1"/>
            <p:nvPr/>
          </p:nvSpPr>
          <p:spPr>
            <a:xfrm>
              <a:off x="909066" y="6426200"/>
              <a:ext cx="38417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dirty="0">
                  <a:solidFill>
                    <a:srgbClr val="4E5E75"/>
                  </a:solidFill>
                  <a:latin typeface="+mn-lt"/>
                  <a:ea typeface="+mn-ea"/>
                  <a:cs typeface="+mn-cs"/>
                </a:rPr>
                <a:t>Both images generated locally · embedded as native pictures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9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00"/>
                            </p:stCondLst>
                            <p:childTnLst>
                              <p:par>
                                <p:cTn xmlns:p="http://schemas.openxmlformats.org/presentationml/2006/main" id="9" presetID="2" presetClass="entr" presetSubtype="4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80"/>
                            </p:stCondLst>
                            <p:childTnLst>
                              <p:par>
                                <p:cTn xmlns:p="http://schemas.openxmlformats.org/presentationml/2006/main" id="14" presetID="2" presetClass="entr" presetSubtype="4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8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8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560"/>
                            </p:stCondLst>
                            <p:childTnLst>
                              <p:par>
                                <p:cTn xmlns:p="http://schemas.openxmlformats.org/presentationml/2006/main" id="19" presetID="10" presetClass="entr" presetSubtype="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80D16"/>
            </a:gs>
            <a:gs pos="100000">
              <a:srgbClr val="101A2B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d-head"/>
          <p:cNvGrpSpPr/>
          <p:nvPr/>
        </p:nvGrpSpPr>
        <p:grpSpPr>
          <a:xfrm>
            <a:off x="896493" y="990600"/>
            <a:ext cx="10381107" cy="1019620"/>
            <a:chOff x="896493" y="990600"/>
            <a:chExt cx="10381107" cy="1019620"/>
          </a:xfrm>
        </p:grpSpPr>
        <p:sp>
          <p:nvSpPr>
            <p:cNvPr id="2" name="TextBox 2"/>
            <p:cNvSpPr txBox="1"/>
            <p:nvPr/>
          </p:nvSpPr>
          <p:spPr>
            <a:xfrm>
              <a:off x="907923" y="990600"/>
              <a:ext cx="176483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b="1" spc="3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THE MEASURE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896493" y="1320800"/>
              <a:ext cx="7713849" cy="6894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5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Where the tenths are actually won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914400" y="1962150"/>
              <a:ext cx="10363200" cy="19050"/>
            </a:xfrm>
            <a:prstGeom prst="rect">
              <a:avLst/>
            </a:prstGeom>
            <a:solidFill>
              <a:srgbClr val="1E3A5F"/>
            </a:solidFill>
            <a:ln>
              <a:noFill/>
            </a:ln>
          </p:spPr>
        </p:sp>
      </p:grpSp>
      <p:grpSp>
        <p:nvGrpSpPr>
          <p:cNvPr id="22" name="d-chart"/>
          <p:cNvGrpSpPr/>
          <p:nvPr/>
        </p:nvGrpSpPr>
        <p:grpSpPr>
          <a:xfrm>
            <a:off x="1714500" y="2387600"/>
            <a:ext cx="8382000" cy="3388233"/>
            <a:chOff x="1714500" y="2387600"/>
            <a:chExt cx="8382000" cy="3388233"/>
          </a:xfrm>
        </p:grpSpPr>
        <p:sp>
          <p:nvSpPr>
            <p:cNvPr id="6" name="Rectangle 6"/>
            <p:cNvSpPr/>
            <p:nvPr/>
          </p:nvSpPr>
          <p:spPr>
            <a:xfrm>
              <a:off x="1714500" y="5334000"/>
              <a:ext cx="8382000" cy="19050"/>
            </a:xfrm>
            <a:prstGeom prst="rect">
              <a:avLst/>
            </a:prstGeom>
            <a:solidFill>
              <a:srgbClr val="2A3E5C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1714500" y="4476750"/>
              <a:ext cx="8382000" cy="9525"/>
            </a:xfrm>
            <a:prstGeom prst="rect">
              <a:avLst/>
            </a:prstGeom>
            <a:solidFill>
              <a:srgbClr val="152744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1714500" y="3619500"/>
              <a:ext cx="8382000" cy="9525"/>
            </a:xfrm>
            <a:prstGeom prst="rect">
              <a:avLst/>
            </a:prstGeom>
            <a:solidFill>
              <a:srgbClr val="152744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1714500" y="2762250"/>
              <a:ext cx="8382000" cy="9525"/>
            </a:xfrm>
            <a:prstGeom prst="rect">
              <a:avLst/>
            </a:prstGeom>
            <a:solidFill>
              <a:srgbClr val="152744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2095500" y="2857500"/>
              <a:ext cx="1428750" cy="2476500"/>
            </a:xfrm>
            <a:prstGeom prst="roundRect">
              <a:avLst>
                <a:gd name="adj" fmla="val 3333"/>
              </a:avLst>
            </a:prstGeom>
            <a:gradFill>
              <a:gsLst>
                <a:gs pos="0">
                  <a:schemeClr val="accent1"/>
                </a:gs>
                <a:gs pos="100000">
                  <a:srgbClr val="FF7A5C"/>
                </a:gs>
              </a:gsLst>
              <a:lin ang="16200000" scaled="1"/>
            </a:gra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4286250" y="3429000"/>
              <a:ext cx="1428750" cy="1905000"/>
            </a:xfrm>
            <a:prstGeom prst="roundRect">
              <a:avLst>
                <a:gd name="adj" fmla="val 3333"/>
              </a:avLst>
            </a:prstGeom>
            <a:gradFill>
              <a:gsLst>
                <a:gs pos="0">
                  <a:schemeClr val="accent2"/>
                </a:gs>
                <a:gs pos="100000">
                  <a:srgbClr val="FFE07A"/>
                </a:gs>
              </a:gsLst>
              <a:lin ang="16200000" scaled="1"/>
            </a:gra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6477000" y="3924300"/>
              <a:ext cx="1428750" cy="1409700"/>
            </a:xfrm>
            <a:prstGeom prst="roundRect">
              <a:avLst>
                <a:gd name="adj" fmla="val 3378"/>
              </a:avLst>
            </a:prstGeom>
            <a:gradFill>
              <a:gsLst>
                <a:gs pos="0">
                  <a:srgbClr val="2E9BFF"/>
                </a:gs>
                <a:gs pos="100000">
                  <a:srgbClr val="7AC8FF"/>
                </a:gs>
              </a:gsLst>
              <a:lin ang="16200000" scaled="1"/>
            </a:gra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8667750" y="4495800"/>
              <a:ext cx="1428750" cy="838200"/>
            </a:xfrm>
            <a:prstGeom prst="roundRect">
              <a:avLst>
                <a:gd name="adj" fmla="val 5682"/>
              </a:avLst>
            </a:prstGeom>
            <a:solidFill>
              <a:srgbClr val="3A4E6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510522" y="2387600"/>
              <a:ext cx="59870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5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142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701272" y="2959100"/>
              <a:ext cx="59870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5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118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987488" y="3454400"/>
              <a:ext cx="40777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550" b="1" dirty="0">
                  <a:solidFill>
                    <a:srgbClr val="2E9BFF"/>
                  </a:solidFill>
                  <a:latin typeface="+mn-lt"/>
                  <a:ea typeface="+mn-ea"/>
                  <a:cs typeface="+mn-cs"/>
                </a:rPr>
                <a:t>96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178238" y="4025900"/>
              <a:ext cx="40777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550" b="1" dirty="0">
                  <a:solidFill>
                    <a:srgbClr val="7C8DA6"/>
                  </a:solidFill>
                  <a:latin typeface="+mn-lt"/>
                  <a:ea typeface="+mn-ea"/>
                  <a:cs typeface="+mn-cs"/>
                </a:rPr>
                <a:t>61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360358" y="5511800"/>
              <a:ext cx="899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rgbClr val="8FA3BF"/>
                  </a:solidFill>
                  <a:latin typeface="+mn-lt"/>
                  <a:ea typeface="+mn-ea"/>
                  <a:cs typeface="+mn-cs"/>
                </a:rPr>
                <a:t>Low speed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667517" y="5511800"/>
              <a:ext cx="6662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rgbClr val="8FA3BF"/>
                  </a:solidFill>
                  <a:latin typeface="+mn-lt"/>
                  <a:ea typeface="+mn-ea"/>
                  <a:cs typeface="+mn-cs"/>
                </a:rPr>
                <a:t>Medium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005295" y="5511800"/>
              <a:ext cx="3721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rgbClr val="8FA3BF"/>
                  </a:solidFill>
                  <a:latin typeface="+mn-lt"/>
                  <a:ea typeface="+mn-ea"/>
                  <a:cs typeface="+mn-cs"/>
                </a:rPr>
                <a:t>Fast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059882" y="5511800"/>
              <a:ext cx="6444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rgbClr val="8FA3BF"/>
                  </a:solidFill>
                  <a:latin typeface="+mn-lt"/>
                  <a:ea typeface="+mn-ea"/>
                  <a:cs typeface="+mn-cs"/>
                </a:rPr>
                <a:t>Straight</a:t>
              </a:r>
            </a:p>
          </p:txBody>
        </p:sp>
      </p:grpSp>
      <p:grpSp>
        <p:nvGrpSpPr>
          <p:cNvPr id="25" name="d-note"/>
          <p:cNvGrpSpPr/>
          <p:nvPr/>
        </p:nvGrpSpPr>
        <p:grpSpPr>
          <a:xfrm>
            <a:off x="908685" y="6229350"/>
            <a:ext cx="10368915" cy="347028"/>
            <a:chOff x="908685" y="6229350"/>
            <a:chExt cx="10368915" cy="347028"/>
          </a:xfrm>
        </p:grpSpPr>
        <p:sp>
          <p:nvSpPr>
            <p:cNvPr id="23" name="Rectangle 23"/>
            <p:cNvSpPr/>
            <p:nvPr/>
          </p:nvSpPr>
          <p:spPr>
            <a:xfrm>
              <a:off x="914400" y="6229350"/>
              <a:ext cx="10363200" cy="9525"/>
            </a:xfrm>
            <a:prstGeom prst="rect">
              <a:avLst/>
            </a:prstGeom>
            <a:solidFill>
              <a:srgbClr val="152744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08685" y="6356350"/>
              <a:ext cx="79960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20" dirty="0">
                  <a:solidFill>
                    <a:srgbClr val="5A6B85"/>
                  </a:solidFill>
                  <a:latin typeface="+mn-lt"/>
                  <a:ea typeface="+mn-ea"/>
                  <a:cs typeface="+mn-cs"/>
                </a:rPr>
                <a:t>Downforce index, 100 = straight-line baseline. Slow corners dominate the lap — which is where the wing earns its keep.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9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700"/>
                            </p:stCondLst>
                            <p:childTnLst>
                              <p:par>
                                <p:cTn xmlns:p="http://schemas.openxmlformats.org/presentationml/2006/main" id="10" presetID="22" presetClass="entr" presetSubtype="4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9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720"/>
                            </p:stCondLst>
                            <p:childTnLst>
                              <p:par>
                                <p:cTn xmlns:p="http://schemas.openxmlformats.org/presentationml/2006/main" id="14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0B12"/>
            </a:gs>
            <a:gs pos="100000">
              <a:srgbClr val="12182A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e-rings"/>
          <p:cNvGrpSpPr/>
          <p:nvPr/>
        </p:nvGrpSpPr>
        <p:grpSpPr>
          <a:xfrm>
            <a:off x="6762750" y="666750"/>
            <a:ext cx="5524500" cy="5524500"/>
            <a:chOff x="6762750" y="666750"/>
            <a:chExt cx="5524500" cy="5524500"/>
          </a:xfrm>
        </p:grpSpPr>
        <p:sp>
          <p:nvSpPr>
            <p:cNvPr id="2" name="Ellipse 2"/>
            <p:cNvSpPr/>
            <p:nvPr/>
          </p:nvSpPr>
          <p:spPr>
            <a:xfrm>
              <a:off x="6762750" y="666750"/>
              <a:ext cx="5524500" cy="5524500"/>
            </a:xfrm>
            <a:prstGeom prst="ellipse">
              <a:avLst/>
            </a:prstGeom>
            <a:noFill/>
            <a:ln w="9525">
              <a:solidFill>
                <a:srgbClr val="16233A"/>
              </a:solidFill>
            </a:ln>
          </p:spPr>
        </p:sp>
        <p:sp>
          <p:nvSpPr>
            <p:cNvPr id="3" name="Ellipse 3"/>
            <p:cNvSpPr/>
            <p:nvPr/>
          </p:nvSpPr>
          <p:spPr>
            <a:xfrm>
              <a:off x="7429500" y="1333500"/>
              <a:ext cx="4191000" cy="4191000"/>
            </a:xfrm>
            <a:prstGeom prst="ellipse">
              <a:avLst/>
            </a:prstGeom>
            <a:noFill/>
            <a:ln w="9525">
              <a:solidFill>
                <a:srgbClr val="1B2C48"/>
              </a:solidFill>
            </a:ln>
          </p:spPr>
        </p:sp>
        <p:sp>
          <p:nvSpPr>
            <p:cNvPr id="4" name="Ellipse 4"/>
            <p:cNvSpPr/>
            <p:nvPr/>
          </p:nvSpPr>
          <p:spPr>
            <a:xfrm>
              <a:off x="8096250" y="2000250"/>
              <a:ext cx="2857500" cy="2857500"/>
            </a:xfrm>
            <a:prstGeom prst="ellipse">
              <a:avLst/>
            </a:prstGeom>
            <a:noFill/>
            <a:ln w="9525">
              <a:solidFill>
                <a:srgbClr val="22364F"/>
              </a:solidFill>
            </a:ln>
          </p:spPr>
        </p:sp>
      </p:grpSp>
      <p:grpSp>
        <p:nvGrpSpPr>
          <p:cNvPr id="11" name="e-type"/>
          <p:cNvGrpSpPr/>
          <p:nvPr/>
        </p:nvGrpSpPr>
        <p:grpSpPr>
          <a:xfrm>
            <a:off x="895350" y="2286000"/>
            <a:ext cx="3539298" cy="2633091"/>
            <a:chOff x="895350" y="2286000"/>
            <a:chExt cx="3539298" cy="2633091"/>
          </a:xfrm>
        </p:grpSpPr>
        <p:sp>
          <p:nvSpPr>
            <p:cNvPr id="6" name="TextBox 6"/>
            <p:cNvSpPr txBox="1"/>
            <p:nvPr/>
          </p:nvSpPr>
          <p:spPr>
            <a:xfrm>
              <a:off x="907923" y="2286000"/>
              <a:ext cx="206628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b="1" spc="37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THE TAKEAWAY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95350" y="2667000"/>
              <a:ext cx="3539298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4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Speed is not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95350" y="3314700"/>
              <a:ext cx="3422734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4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an accident.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914400" y="4305300"/>
              <a:ext cx="1905000" cy="381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06399" y="4610100"/>
              <a:ext cx="2801135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80" dirty="0">
                  <a:solidFill>
                    <a:srgbClr val="8FA3BF"/>
                  </a:solidFill>
                  <a:latin typeface="+mn-lt"/>
                  <a:ea typeface="+mn-ea"/>
                  <a:cs typeface="+mn-cs"/>
                </a:rPr>
                <a:t>It is air, arranged on purpose.</a:t>
              </a:r>
            </a:p>
          </p:txBody>
        </p:sp>
      </p:grpSp>
      <p:grpSp>
        <p:nvGrpSpPr>
          <p:cNvPr id="13" name="e-foot"/>
          <p:cNvGrpSpPr/>
          <p:nvPr/>
        </p:nvGrpSpPr>
        <p:grpSpPr>
          <a:xfrm>
            <a:off x="909066" y="6407150"/>
            <a:ext cx="2792088" cy="205359"/>
            <a:chOff x="909066" y="6407150"/>
            <a:chExt cx="2792088" cy="205359"/>
          </a:xfrm>
        </p:grpSpPr>
        <p:sp>
          <p:nvSpPr>
            <p:cNvPr id="12" name="TextBox 12"/>
            <p:cNvSpPr txBox="1"/>
            <p:nvPr/>
          </p:nvSpPr>
          <p:spPr>
            <a:xfrm>
              <a:off x="909066" y="6407150"/>
              <a:ext cx="27920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dirty="0">
                  <a:solidFill>
                    <a:srgbClr val="4E5E75"/>
                  </a:solidFill>
                  <a:latin typeface="+mn-lt"/>
                  <a:ea typeface="+mn-ea"/>
                  <a:cs typeface="+mn-cs"/>
                </a:rPr>
                <a:t>ppt-master · native shapes, native animation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9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xmlns:p="http://schemas.openxmlformats.org/presentationml/2006/main" id="10" presetID="2" presetClass="entr" presetSubtype="4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8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8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f1deck">
  <a:themeElements>
    <a:clrScheme name="f1deck">
      <a:dk1>
        <a:srgbClr val="F5F7FA"/>
      </a:dk1>
      <a:lt1>
        <a:srgbClr val="0B1220"/>
      </a:lt1>
      <a:dk2>
        <a:srgbClr val="F5F7FA"/>
      </a:dk2>
      <a:lt2>
        <a:srgbClr val="0B1220"/>
      </a:lt2>
      <a:accent1>
        <a:srgbClr val="FF3D71"/>
      </a:accent1>
      <a:accent2>
        <a:srgbClr val="FFB020"/>
      </a:accent2>
      <a:accent3>
        <a:srgbClr val="FFB020"/>
      </a:accent3>
      <a:accent4>
        <a:srgbClr val="FF3D71"/>
      </a:accent4>
      <a:accent5>
        <a:srgbClr val="4BACC6"/>
      </a:accent5>
      <a:accent6>
        <a:srgbClr val="F79646"/>
      </a:accent6>
      <a:hlink>
        <a:srgbClr val="FFB020"/>
      </a:hlink>
      <a:folHlink>
        <a:srgbClr val="FFB020"/>
      </a:folHlink>
    </a:clrScheme>
    <a:fontScheme name="f1deck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1de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en</dc:language>
  <cp:lastModifiedBy/>
  <cp:revision>1</cp:revision>
  <dcterms:created xsi:type="dcterms:W3CDTF">2026-10-11T19:14:59Z</dcterms:created>
  <dcterms:modified xsi:type="dcterms:W3CDTF">2026-10-11T19:14:59Z</dcterms:modified>
  <cp:category/>
  <cp:contentStatus/>
</cp:coreProperties>
</file>