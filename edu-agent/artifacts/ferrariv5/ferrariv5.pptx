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8288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errariv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errariv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6600" kern="1200" lang="en-US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 lang="en-US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 lang="en-US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 lang="en-US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 lang="en-US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 lang="en-US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 lang="en-US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 lang="en-US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en-US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en-US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250" kern="1200" lang="en-US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 lang="en-US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 lang="en-US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 lang="en-US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 lang="en-US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 lang="en-US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 lang="en-US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 lang="en-US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 lang="en-US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536a51e8333d80e.jp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a563cb1b4cc3451.jp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gradFill>
          <a:gsLst>
            <a:gs pos="0">
              <a:schemeClr val="accent1"/>
            </a:gs>
            <a:gs pos="100000">
              <a:schemeClr val="accent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!!stage"/>
          <p:cNvGrpSpPr/>
          <p:nvPr/>
        </p:nvGrpSpPr>
        <p:grpSpPr>
          <a:xfrm>
            <a:off x="0" y="0"/>
            <a:ext cx="10287000" cy="9525000"/>
            <a:chOff x="0" y="0"/>
            <a:chExt cx="10287000" cy="9525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20546" t="0" r="20545" b="0"/>
            <a:stretch>
              <a:fillRect/>
            </a:stretch>
          </p:blipFill>
          <p:spPr>
            <a:xfrm>
              <a:off x="0" y="0"/>
              <a:ext cx="10287000" cy="9525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4762500"/>
              <a:ext cx="10287000" cy="4762500"/>
            </a:xfrm>
            <a:prstGeom prst="rect">
              <a:avLst/>
            </a:prstGeom>
            <a:gradFill>
              <a:gsLst>
                <a:gs pos="0">
                  <a:schemeClr val="accent6">
                    <a:alpha val="0"/>
                  </a:schemeClr>
                </a:gs>
                <a:gs pos="70000">
                  <a:schemeClr val="accent6"/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11" name="v1-type"/>
          <p:cNvGrpSpPr/>
          <p:nvPr/>
        </p:nvGrpSpPr>
        <p:grpSpPr>
          <a:xfrm>
            <a:off x="742950" y="10769600"/>
            <a:ext cx="7150029" cy="5831840"/>
            <a:chOff x="742950" y="10769600"/>
            <a:chExt cx="7150029" cy="5831840"/>
          </a:xfrm>
        </p:grpSpPr>
        <p:sp>
          <p:nvSpPr>
            <p:cNvPr id="5" name="TextBox 5"/>
            <p:cNvSpPr txBox="1"/>
            <p:nvPr/>
          </p:nvSpPr>
          <p:spPr>
            <a:xfrm>
              <a:off x="750570" y="10769600"/>
              <a:ext cx="30288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spc="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SEASON 2004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2950" y="11379200"/>
              <a:ext cx="7150029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FERRARI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2950" y="12903200"/>
              <a:ext cx="4575627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F2004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4859000"/>
              <a:ext cx="2476500" cy="952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6760" y="15443200"/>
              <a:ext cx="41736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most dominant car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6760" y="16014700"/>
              <a:ext cx="46243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Formula 1 has ever seen.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rgbClr val="F5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2-rule"/>
          <p:cNvSpPr/>
          <p:nvPr/>
        </p:nvSpPr>
        <p:spPr>
          <a:xfrm>
            <a:off x="762000" y="2286000"/>
            <a:ext cx="8763000" cy="952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6" name="v2-type"/>
          <p:cNvGrpSpPr/>
          <p:nvPr/>
        </p:nvGrpSpPr>
        <p:grpSpPr>
          <a:xfrm>
            <a:off x="742950" y="3530600"/>
            <a:ext cx="6634608" cy="3028950"/>
            <a:chOff x="742950" y="3530600"/>
            <a:chExt cx="6634608" cy="302895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530600"/>
              <a:ext cx="287153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spc="600" dirty="0">
                  <a:solidFill>
                    <a:srgbClr val="B81400"/>
                  </a:solidFill>
                  <a:latin typeface="+mn-lt"/>
                  <a:ea typeface="+mn-ea"/>
                  <a:cs typeface="+mn-cs"/>
                </a:rPr>
                <a:t>THE SEASON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2950" y="4140200"/>
              <a:ext cx="5446496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b="1" dirty="0">
                  <a:solidFill>
                    <a:srgbClr val="1A0E0B"/>
                  </a:solidFill>
                  <a:latin typeface="+mn-lt"/>
                  <a:ea typeface="+mn-ea"/>
                  <a:cs typeface="+mn-cs"/>
                </a:rPr>
                <a:t>Fifteen wins.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2950" y="5283200"/>
              <a:ext cx="6634608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b="1" dirty="0">
                  <a:solidFill>
                    <a:srgbClr val="C41605"/>
                  </a:solidFill>
                  <a:latin typeface="+mn-lt"/>
                  <a:ea typeface="+mn-ea"/>
                  <a:cs typeface="+mn-cs"/>
                </a:rPr>
                <a:t>Eighteen races.</a:t>
              </a:r>
            </a:p>
          </p:txBody>
        </p:sp>
      </p:grpSp>
      <p:grpSp>
        <p:nvGrpSpPr>
          <p:cNvPr id="21" name="!!stage"/>
          <p:cNvGrpSpPr/>
          <p:nvPr/>
        </p:nvGrpSpPr>
        <p:grpSpPr>
          <a:xfrm>
            <a:off x="749046" y="7378700"/>
            <a:ext cx="8394954" cy="7756779"/>
            <a:chOff x="749046" y="7378700"/>
            <a:chExt cx="8394954" cy="7756779"/>
          </a:xfrm>
        </p:grpSpPr>
        <p:sp>
          <p:nvSpPr>
            <p:cNvPr id="7" name="TextBox 7"/>
            <p:cNvSpPr txBox="1"/>
            <p:nvPr/>
          </p:nvSpPr>
          <p:spPr>
            <a:xfrm>
              <a:off x="752094" y="7378700"/>
              <a:ext cx="7989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6B5148"/>
                  </a:solidFill>
                  <a:latin typeface="+mn-lt"/>
                  <a:ea typeface="+mn-ea"/>
                  <a:cs typeface="+mn-cs"/>
                </a:rPr>
                <a:t>Ferrari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7810500"/>
              <a:ext cx="8382000" cy="723900"/>
            </a:xfrm>
            <a:prstGeom prst="roundRect">
              <a:avLst>
                <a:gd name="adj" fmla="val 1052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73074" y="7893050"/>
              <a:ext cx="55169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2094" y="8997950"/>
              <a:ext cx="1445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6B5148"/>
                  </a:solidFill>
                  <a:latin typeface="+mn-lt"/>
                  <a:ea typeface="+mn-ea"/>
                  <a:cs typeface="+mn-cs"/>
                </a:rPr>
                <a:t>BAR Honda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9429750"/>
              <a:ext cx="2457450" cy="723900"/>
            </a:xfrm>
            <a:prstGeom prst="roundRect">
              <a:avLst>
                <a:gd name="adj" fmla="val 10526"/>
              </a:avLst>
            </a:prstGeom>
            <a:solidFill>
              <a:srgbClr val="D8CEC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3074" y="9512300"/>
              <a:ext cx="29337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1A0E0B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2094" y="10617200"/>
              <a:ext cx="9319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6B5148"/>
                  </a:solidFill>
                  <a:latin typeface="+mn-lt"/>
                  <a:ea typeface="+mn-ea"/>
                  <a:cs typeface="+mn-cs"/>
                </a:rPr>
                <a:t>Renault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11049000"/>
              <a:ext cx="1676400" cy="723900"/>
            </a:xfrm>
            <a:prstGeom prst="roundRect">
              <a:avLst>
                <a:gd name="adj" fmla="val 10526"/>
              </a:avLst>
            </a:prstGeom>
            <a:solidFill>
              <a:srgbClr val="D8CEC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3074" y="11131550"/>
              <a:ext cx="29337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1A0E0B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2094" y="12236450"/>
              <a:ext cx="10037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6B5148"/>
                  </a:solidFill>
                  <a:latin typeface="+mn-lt"/>
                  <a:ea typeface="+mn-ea"/>
                  <a:cs typeface="+mn-cs"/>
                </a:rPr>
                <a:t>Williams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12668250"/>
              <a:ext cx="1114425" cy="723900"/>
            </a:xfrm>
            <a:prstGeom prst="roundRect">
              <a:avLst>
                <a:gd name="adj" fmla="val 10526"/>
              </a:avLst>
            </a:prstGeom>
            <a:solidFill>
              <a:srgbClr val="D8CEC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73074" y="12750800"/>
              <a:ext cx="29337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1A0E0B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046" y="14160500"/>
              <a:ext cx="48537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1A0E0B"/>
                  </a:solidFill>
                  <a:latin typeface="+mn-lt"/>
                  <a:ea typeface="+mn-ea"/>
                  <a:cs typeface="+mn-cs"/>
                </a:rPr>
                <a:t>15 of 18 — no other constructor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9046" y="14636750"/>
              <a:ext cx="44339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1A0E0B"/>
                  </a:solidFill>
                  <a:latin typeface="+mn-lt"/>
                  <a:ea typeface="+mn-ea"/>
                  <a:cs typeface="+mn-cs"/>
                </a:rPr>
                <a:t>won more than a single race.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!!stage"/>
          <p:cNvGrpSpPr/>
          <p:nvPr/>
        </p:nvGrpSpPr>
        <p:grpSpPr>
          <a:xfrm>
            <a:off x="0" y="0"/>
            <a:ext cx="10287000" cy="10287000"/>
            <a:chOff x="0" y="0"/>
            <a:chExt cx="10287000" cy="10287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22728" t="0" r="22727" b="0"/>
            <a:stretch>
              <a:fillRect/>
            </a:stretch>
          </p:blipFill>
          <p:spPr>
            <a:xfrm>
              <a:off x="0" y="0"/>
              <a:ext cx="10287000" cy="10287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5524500"/>
              <a:ext cx="10287000" cy="4762500"/>
            </a:xfrm>
            <a:prstGeom prst="rect">
              <a:avLst/>
            </a:prstGeom>
            <a:gradFill>
              <a:gsLst>
                <a:gs pos="0">
                  <a:schemeClr val="accent6">
                    <a:alpha val="0"/>
                  </a:schemeClr>
                </a:gs>
                <a:gs pos="70000">
                  <a:schemeClr val="accent6"/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11" name="v3-type"/>
          <p:cNvGrpSpPr/>
          <p:nvPr/>
        </p:nvGrpSpPr>
        <p:grpSpPr>
          <a:xfrm>
            <a:off x="742950" y="11531600"/>
            <a:ext cx="5805120" cy="4668266"/>
            <a:chOff x="742950" y="11531600"/>
            <a:chExt cx="5805120" cy="4668266"/>
          </a:xfrm>
        </p:grpSpPr>
        <p:sp>
          <p:nvSpPr>
            <p:cNvPr id="5" name="TextBox 5"/>
            <p:cNvSpPr txBox="1"/>
            <p:nvPr/>
          </p:nvSpPr>
          <p:spPr>
            <a:xfrm>
              <a:off x="750570" y="11531600"/>
              <a:ext cx="309878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spc="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MACHINE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2950" y="12249150"/>
              <a:ext cx="4309039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Built to be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2950" y="13201650"/>
              <a:ext cx="5585141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unfollowable.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4573250"/>
              <a:ext cx="2476500" cy="952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8284" y="15100300"/>
              <a:ext cx="57997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V10 that screamed to 19,000 rpm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8284" y="15671800"/>
              <a:ext cx="457383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 an era of no substitutions.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rgbClr val="F5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v4-head"/>
          <p:cNvGrpSpPr/>
          <p:nvPr/>
        </p:nvGrpSpPr>
        <p:grpSpPr>
          <a:xfrm>
            <a:off x="742950" y="2578100"/>
            <a:ext cx="5404586" cy="1847850"/>
            <a:chOff x="742950" y="2578100"/>
            <a:chExt cx="5404586" cy="1847850"/>
          </a:xfrm>
        </p:grpSpPr>
        <p:sp>
          <p:nvSpPr>
            <p:cNvPr id="2" name="TextBox 2"/>
            <p:cNvSpPr txBox="1"/>
            <p:nvPr/>
          </p:nvSpPr>
          <p:spPr>
            <a:xfrm>
              <a:off x="750570" y="2578100"/>
              <a:ext cx="401288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spc="600" dirty="0">
                  <a:solidFill>
                    <a:srgbClr val="B81400"/>
                  </a:solidFill>
                  <a:latin typeface="+mn-lt"/>
                  <a:ea typeface="+mn-ea"/>
                  <a:cs typeface="+mn-cs"/>
                </a:rPr>
                <a:t>BY THE NUMBERS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2950" y="3263900"/>
              <a:ext cx="5404586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0" b="1" dirty="0">
                  <a:solidFill>
                    <a:srgbClr val="1A0E0B"/>
                  </a:solidFill>
                  <a:latin typeface="+mn-lt"/>
                  <a:ea typeface="+mn-ea"/>
                  <a:cs typeface="+mn-cs"/>
                </a:rPr>
                <a:t>Three figures.</a:t>
              </a:r>
            </a:p>
          </p:txBody>
        </p:sp>
      </p:grpSp>
      <p:grpSp>
        <p:nvGrpSpPr>
          <p:cNvPr id="20" name="!!stage"/>
          <p:cNvGrpSpPr/>
          <p:nvPr/>
        </p:nvGrpSpPr>
        <p:grpSpPr>
          <a:xfrm>
            <a:off x="762000" y="5334000"/>
            <a:ext cx="8763000" cy="9906000"/>
            <a:chOff x="762000" y="5334000"/>
            <a:chExt cx="8763000" cy="9906000"/>
          </a:xfrm>
        </p:grpSpPr>
        <p:sp>
          <p:nvSpPr>
            <p:cNvPr id="5" name="Rectangle 5"/>
            <p:cNvSpPr/>
            <p:nvPr/>
          </p:nvSpPr>
          <p:spPr>
            <a:xfrm>
              <a:off x="762000" y="5334000"/>
              <a:ext cx="8763000" cy="3048000"/>
            </a:xfrm>
            <a:prstGeom prst="roundRect">
              <a:avLst>
                <a:gd name="adj" fmla="val 375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5334000"/>
              <a:ext cx="8763000" cy="952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19200" y="5568950"/>
              <a:ext cx="2565153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0" b="1" dirty="0">
                  <a:solidFill>
                    <a:srgbClr val="C41605"/>
                  </a:solidFill>
                  <a:latin typeface="+mn-lt"/>
                  <a:ea typeface="+mn-ea"/>
                  <a:cs typeface="+mn-cs"/>
                </a:rPr>
                <a:t>865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23010" y="7251700"/>
              <a:ext cx="231955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1A0E0B"/>
                  </a:solidFill>
                  <a:latin typeface="+mn-lt"/>
                  <a:ea typeface="+mn-ea"/>
                  <a:cs typeface="+mn-cs"/>
                </a:rPr>
                <a:t>horsepower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26820" y="7816850"/>
              <a:ext cx="313734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6B5148"/>
                  </a:solidFill>
                  <a:latin typeface="+mn-lt"/>
                  <a:ea typeface="+mn-ea"/>
                  <a:cs typeface="+mn-cs"/>
                </a:rPr>
                <a:t>from 3.0 litres, no turbo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8763000"/>
              <a:ext cx="8763000" cy="3048000"/>
            </a:xfrm>
            <a:prstGeom prst="roundRect">
              <a:avLst>
                <a:gd name="adj" fmla="val 375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8763000"/>
              <a:ext cx="8763000" cy="952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19200" y="8997950"/>
              <a:ext cx="2565153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0" b="1" dirty="0">
                  <a:solidFill>
                    <a:srgbClr val="C41605"/>
                  </a:solidFill>
                  <a:latin typeface="+mn-lt"/>
                  <a:ea typeface="+mn-ea"/>
                  <a:cs typeface="+mn-cs"/>
                </a:rPr>
                <a:t>600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23010" y="10680700"/>
              <a:ext cx="193839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1A0E0B"/>
                  </a:solidFill>
                  <a:latin typeface="+mn-lt"/>
                  <a:ea typeface="+mn-ea"/>
                  <a:cs typeface="+mn-cs"/>
                </a:rPr>
                <a:t>kilograms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26820" y="11245850"/>
              <a:ext cx="349137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6B5148"/>
                  </a:solidFill>
                  <a:latin typeface="+mn-lt"/>
                  <a:ea typeface="+mn-ea"/>
                  <a:cs typeface="+mn-cs"/>
                </a:rPr>
                <a:t>fully fuelled, driver aboard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12192000"/>
              <a:ext cx="8763000" cy="3048000"/>
            </a:xfrm>
            <a:prstGeom prst="roundRect">
              <a:avLst>
                <a:gd name="adj" fmla="val 375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2000" y="12192000"/>
              <a:ext cx="8763000" cy="952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19200" y="12426950"/>
              <a:ext cx="2143523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0" b="1" dirty="0">
                  <a:solidFill>
                    <a:srgbClr val="C41605"/>
                  </a:solidFill>
                  <a:latin typeface="+mn-lt"/>
                  <a:ea typeface="+mn-ea"/>
                  <a:cs typeface="+mn-cs"/>
                </a:rPr>
                <a:t>0.9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23010" y="14109700"/>
              <a:ext cx="400155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1A0E0B"/>
                  </a:solidFill>
                  <a:latin typeface="+mn-lt"/>
                  <a:ea typeface="+mn-ea"/>
                  <a:cs typeface="+mn-cs"/>
                </a:rPr>
                <a:t>tonnes of downforce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26820" y="14674850"/>
              <a:ext cx="342388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6B5148"/>
                  </a:solidFill>
                  <a:latin typeface="+mn-lt"/>
                  <a:ea typeface="+mn-ea"/>
                  <a:cs typeface="+mn-cs"/>
                </a:rPr>
                <a:t>more than the car weighs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gradFill>
          <a:gsLst>
            <a:gs pos="0">
              <a:schemeClr val="lt1"/>
            </a:gs>
            <a:gs pos="100000">
              <a:srgbClr val="5A09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!!stage"/>
          <p:cNvGrpSpPr/>
          <p:nvPr/>
        </p:nvGrpSpPr>
        <p:grpSpPr>
          <a:xfrm>
            <a:off x="1524000" y="5143500"/>
            <a:ext cx="7239000" cy="7239000"/>
            <a:chOff x="1524000" y="5143500"/>
            <a:chExt cx="7239000" cy="7239000"/>
          </a:xfrm>
        </p:grpSpPr>
        <p:sp>
          <p:nvSpPr>
            <p:cNvPr id="2" name="Ellipse 2"/>
            <p:cNvSpPr/>
            <p:nvPr/>
          </p:nvSpPr>
          <p:spPr>
            <a:xfrm>
              <a:off x="1524000" y="5143500"/>
              <a:ext cx="7239000" cy="7239000"/>
            </a:xfrm>
            <a:prstGeom prst="ellipse">
              <a:avLst/>
            </a:prstGeom>
            <a:noFill/>
            <a:ln w="38100">
              <a:solidFill>
                <a:srgbClr val="FF6A00">
                  <a:alpha val="55000"/>
                </a:srgb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2476500" y="6096000"/>
              <a:ext cx="5334000" cy="5334000"/>
            </a:xfrm>
            <a:prstGeom prst="ellipse">
              <a:avLst/>
            </a:prstGeom>
            <a:noFill/>
            <a:ln w="38100">
              <a:solidFill>
                <a:srgbClr val="FF6A00">
                  <a:alpha val="75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3429000" y="7048500"/>
              <a:ext cx="3429000" cy="3429000"/>
            </a:xfrm>
            <a:prstGeom prst="ellipse">
              <a:avLst/>
            </a:prstGeom>
            <a:noFill/>
            <a:ln w="47625">
              <a:solidFill>
                <a:schemeClr val="accent2">
                  <a:alpha val="90000"/>
                </a:scheme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4381500" y="8001000"/>
              <a:ext cx="1524000" cy="1524000"/>
            </a:xfrm>
            <a:prstGeom prst="ellipse">
              <a:avLst/>
            </a:prstGeom>
            <a:solidFill>
              <a:schemeClr val="accent2">
                <a:alpha val="95000"/>
              </a:schemeClr>
            </a:solidFill>
            <a:ln>
              <a:noFill/>
            </a:ln>
          </p:spPr>
        </p:sp>
      </p:grpSp>
      <p:grpSp>
        <p:nvGrpSpPr>
          <p:cNvPr id="10" name="v5-type"/>
          <p:cNvGrpSpPr/>
          <p:nvPr/>
        </p:nvGrpSpPr>
        <p:grpSpPr>
          <a:xfrm>
            <a:off x="742950" y="14198600"/>
            <a:ext cx="7291231" cy="2971800"/>
            <a:chOff x="742950" y="14198600"/>
            <a:chExt cx="7291231" cy="2971800"/>
          </a:xfrm>
        </p:grpSpPr>
        <p:sp>
          <p:nvSpPr>
            <p:cNvPr id="7" name="TextBox 7"/>
            <p:cNvSpPr txBox="1"/>
            <p:nvPr/>
          </p:nvSpPr>
          <p:spPr>
            <a:xfrm>
              <a:off x="750570" y="14198600"/>
              <a:ext cx="28535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spc="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LEGACY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2950" y="14732000"/>
              <a:ext cx="502336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Built once.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2950" y="15779750"/>
              <a:ext cx="7291231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Never matched.</a:t>
              </a:r>
            </a:p>
          </p:txBody>
        </p:sp>
      </p:grp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errariv5">
  <a:themeElements>
    <a:clrScheme name="ferrariv5">
      <a:dk1>
        <a:srgbClr val="FFFFFF"/>
      </a:dk1>
      <a:lt1>
        <a:srgbClr val="C41605"/>
      </a:lt1>
      <a:dk2>
        <a:srgbClr val="FFFFFF"/>
      </a:dk2>
      <a:lt2>
        <a:srgbClr val="C41605"/>
      </a:lt2>
      <a:accent1>
        <a:srgbClr val="E01806"/>
      </a:accent1>
      <a:accent2>
        <a:srgbClr val="FFD400"/>
      </a:accent2>
      <a:accent3>
        <a:srgbClr val="FFD400"/>
      </a:accent3>
      <a:accent4>
        <a:srgbClr val="E01806"/>
      </a:accent4>
      <a:accent5>
        <a:srgbClr val="FFD9CE"/>
      </a:accent5>
      <a:accent6>
        <a:srgbClr val="8C0F00"/>
      </a:accent6>
      <a:hlink>
        <a:srgbClr val="FFD400"/>
      </a:hlink>
      <a:folHlink>
        <a:srgbClr val="FFD400"/>
      </a:folHlink>
    </a:clrScheme>
    <a:fontScheme name="ferrariv5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rrariv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en-US</dc:language>
  <cp:lastModifiedBy/>
  <cp:revision>1</cp:revision>
  <dcterms:created xsi:type="dcterms:W3CDTF">2026-10-11T21:19:33Z</dcterms:created>
  <dcterms:modified xsi:type="dcterms:W3CDTF">2026-10-11T21:19:33Z</dcterms:modified>
  <cp:category/>
  <cp:contentStatus/>
</cp:coreProperties>
</file>